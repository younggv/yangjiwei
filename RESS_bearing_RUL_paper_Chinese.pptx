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7665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32D4B"/>
                </a:solidFill>
                <a:latin typeface="Microsoft YaHei"/>
              </a:rPr>
              <a:t>论文精读：滚动轴承剩余寿命预测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94944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D68C4"/>
                </a:solidFill>
                <a:latin typeface="Microsoft YaHei"/>
              </a:rPr>
              <a:t>Deep learning-based remaining useful life estimation of bearings using multi-scale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6537960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50" b="0">
                <a:solidFill>
                  <a:srgbClr val="132D4B"/>
                </a:solidFill>
                <a:latin typeface="Microsoft YaHei"/>
              </a:rPr>
              <a:t>Xiang Li, Wei Zhang, Qian Ding</a:t>
            </a:r>
            <a:br/>
            <a:r>
              <a:rPr sz="1550" b="0">
                <a:solidFill>
                  <a:srgbClr val="132D4B"/>
                </a:solidFill>
                <a:latin typeface="Microsoft YaHei"/>
              </a:rPr>
              <a:t>Reliability Engineering &amp; System Safety, 182 (2019), 208–218</a:t>
            </a:r>
            <a:br/>
            <a:r>
              <a:rPr sz="1550" b="0">
                <a:solidFill>
                  <a:srgbClr val="132D4B"/>
                </a:solidFill>
                <a:latin typeface="Microsoft YaHei"/>
              </a:rPr>
              <a:t>DOI: https://doi.org/10.1016/j.ress.2018.11.011</a:t>
            </a:r>
          </a:p>
        </p:txBody>
      </p:sp>
      <p:pic>
        <p:nvPicPr>
          <p:cNvPr id="5" name="Picture 4" descr="bea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68680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257800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E87E04"/>
                </a:solidFill>
                <a:latin typeface="Microsoft YaHei"/>
              </a:rPr>
              <a:t>面向机械可靠性设计：用振动信号提前估计轴承还能可靠工作多久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1. 论文信息与阅读主线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C6574"/>
                </a:solidFill>
                <a:latin typeface="Microsoft YaHei"/>
              </a:rPr>
              <a:t>本页只交代论文对象；不展开期刊介绍。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411480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344168"/>
            <a:ext cx="3337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论文对象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64792"/>
            <a:ext cx="3337560" cy="34930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研究对象：滚动轴承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任务：剩余寿命 RUL 预测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数据：PRONOSTIA 轴承加速退化实验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方法：时频信息 + 多尺度 CNN 特征提取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输出：每个监测时刻的 RUL 估计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73152" cy="411480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344168"/>
            <a:ext cx="3063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为什么适合机械可靠性设计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764792"/>
            <a:ext cx="3063240" cy="34930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轴承是旋转机械关键件；故障会引发停机、二次损伤与安全风险。</a:t>
            </a:r>
            <a:br/>
            <a:br/>
            <a:r>
              <a:rPr sz="1350" b="0">
                <a:solidFill>
                  <a:srgbClr val="132D4B"/>
                </a:solidFill>
                <a:latin typeface="Microsoft YaHei"/>
              </a:rPr>
              <a:t>论文将“故障后诊断”推进到“故障前寿命预测”，可直接服务于预测性维护和可靠性闭环设计。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154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41148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3441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本 PPT 讲解路径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764792"/>
            <a:ext cx="2834640" cy="34930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问题背景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RUL 与退化数据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多尺度深度学习模型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实验验证与结果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对可靠性设计的启示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局限与可改进方向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2. 研究问题：从“能不能用”到“还能用多久”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50" b="0">
                <a:solidFill>
                  <a:srgbClr val="132D4B"/>
                </a:solidFill>
                <a:latin typeface="Microsoft YaHei"/>
              </a:rPr>
              <a:t>传统故障诊断回答：轴承当前是否已经异常、属于哪类故障。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50" b="0">
                <a:solidFill>
                  <a:srgbClr val="132D4B"/>
                </a:solidFill>
                <a:latin typeface="Microsoft YaHei"/>
              </a:rPr>
              <a:t>可靠性设计和维护更关心：在当前退化状态下，距离失效还有多少寿命余量。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50" b="0">
                <a:solidFill>
                  <a:srgbClr val="132D4B"/>
                </a:solidFill>
                <a:latin typeface="Microsoft YaHei"/>
              </a:rPr>
              <a:t>RUL 预测把传感器监测数据转化为可执行的维护窗口，减少过早维修和突发停机。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50" b="0">
                <a:solidFill>
                  <a:srgbClr val="132D4B"/>
                </a:solidFill>
                <a:latin typeface="Microsoft YaHei"/>
              </a:rPr>
              <a:t>难点在于轴承退化高度非线性：冲击、噪声、工况变化和个体差异都会干扰寿命估计。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234440"/>
            <a:ext cx="4526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37960" y="1234440"/>
            <a:ext cx="73152" cy="1097280"/>
          </a:xfrm>
          <a:prstGeom prst="rect">
            <a:avLst/>
          </a:prstGeom>
          <a:solidFill>
            <a:srgbClr val="5C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1344168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5C6574"/>
                </a:solidFill>
                <a:latin typeface="Microsoft YaHei"/>
              </a:rPr>
              <a:t>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2552" y="1764792"/>
            <a:ext cx="4206240" cy="4754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当前是否失效？故障类型是什么？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32520" y="2423160"/>
            <a:ext cx="0" cy="667512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3154680"/>
            <a:ext cx="4526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3154680"/>
            <a:ext cx="73152" cy="132588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264408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3685032"/>
            <a:ext cx="4206240" cy="7040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未来何时达到失效阈值？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应在何时检修或更换？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4572000"/>
            <a:ext cx="0" cy="566928"/>
          </a:xfrm>
          <a:prstGeom prst="line">
            <a:avLst/>
          </a:prstGeom>
          <a:ln w="25400">
            <a:solidFill>
              <a:srgbClr val="198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5193792"/>
            <a:ext cx="4526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5193792"/>
            <a:ext cx="73152" cy="7772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5303520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可靠性设计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5724144"/>
            <a:ext cx="4206240" cy="15544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把寿命数据反馈到设计与维护策略。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3. RUL 概念：退化轨迹到失效阈值的时间距离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70432"/>
            <a:ext cx="580644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23444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RUL（Remaining Useful Life）= 当前时刻到失效时刻的剩余运行时间或循环数。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退化指标可以来自振动幅值、频带能量、时频图像或深度网络自动学习的特征。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当退化指标穿越失效阈值时，认为轴承达到寿命终点。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预测越靠近真实 RUL，维修计划越能兼顾安全冗余和经济性。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4. 数据基础：PRONOSTIA 轴承加速退化实验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a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38404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2040" y="1170432"/>
            <a:ext cx="6126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论文在公开、常用的 PRONOSTIA 滚动轴承数据集上验证方法。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实验记录轴承从健康运行到失效的全寿命振动信号，适合构造监督学习样本。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不同载荷/转速工况使数据更接近工程场景：同类轴承也可能呈现不同退化速度。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机械含义：振动信号中的冲击、频带能量和非平稳成分，是滚道/滚动体损伤扩展的外在表征。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5. 总体技术路线：原始振动信号到 RUL 估计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73152" cy="169164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1097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振动采集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87752"/>
            <a:ext cx="1097280" cy="10698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加速度传感器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连续采样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05740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14600" y="2057400"/>
            <a:ext cx="73152" cy="169164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167128"/>
            <a:ext cx="1097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样本切片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587752"/>
            <a:ext cx="1097280" cy="10698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按时间窗口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构造训练样本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057400"/>
            <a:ext cx="73152" cy="169164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167128"/>
            <a:ext cx="1097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时频表达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587752"/>
            <a:ext cx="1097280" cy="10698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同时保留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时间与频率信息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5740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057400"/>
            <a:ext cx="73152" cy="169164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167128"/>
            <a:ext cx="1097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多尺度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87752"/>
            <a:ext cx="1097280" cy="10698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不同卷积尺度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提取退化特征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05740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2057400"/>
            <a:ext cx="73152" cy="169164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2167128"/>
            <a:ext cx="1097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RUL 回归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587752"/>
            <a:ext cx="1097280" cy="10698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输出剩余寿命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用于维护决策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21408" y="2880360"/>
            <a:ext cx="320040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50208" y="2880360"/>
            <a:ext cx="320040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79008" y="2880360"/>
            <a:ext cx="320040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90688" y="2880360"/>
            <a:ext cx="320039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1560" y="45720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关键思想：不依赖大量手工特征，直接让深度网络从时频数据中学习退化模式。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多尺度结构使模型能同时关注局部冲击和较长时间范围的趋势变化。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6. 为什么要看时频信息？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78992"/>
            <a:ext cx="630936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34440"/>
            <a:ext cx="39776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轴承早期损伤往往表现为弱冲击，直接从时域幅值中识别并不稳定。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频域能揭示故障相关频带和调制成分，但会弱化冲击出现的时间位置。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时频表达把“什么时候出现异常”和“异常集中在哪些频带”结合起来。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这为 CNN 的二维局部特征提取提供了类似图像的输入结构。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5029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C6574"/>
                </a:solidFill>
                <a:latin typeface="Microsoft YaHei"/>
              </a:rPr>
              <a:t>图为教学示意，非论文原图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7. 方法核心：多尺度 CNN 特征提取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662940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143000"/>
            <a:ext cx="3703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不同卷积核/感受野相当于从不同“观察尺度”审视退化信号。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小尺度：更敏感于局部冲击、尖峰与短时异常。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中/大尺度：更适合捕捉频带能量变化和较慢的退化趋势。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132D4B"/>
                </a:solidFill>
                <a:latin typeface="Microsoft YaHei"/>
              </a:rPr>
              <a:t>多尺度特征融合后，再通过回归层输出 RUL。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87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617720"/>
            <a:ext cx="73152" cy="8686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727448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与传统特征工程的区别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148072"/>
            <a:ext cx="9966960" cy="246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传统方法常需人工选择 RMS、峭度、包络谱等指标；论文方法把特征学习嵌入模型训练，降低对专家手工调参的依赖。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8. 监督学习构造：寿命标签、窗口样本与模型训练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1546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416052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2834640" cy="35387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从全寿命振动序列中截取多个时间窗口。</a:t>
            </a:r>
            <a:br/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每个窗口代表某个运行时刻的健康状态。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1546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234440"/>
            <a:ext cx="73152" cy="416052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3441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764792"/>
            <a:ext cx="2834640" cy="35387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根据该时刻到失效终点的距离生成 RUL 标签。</a:t>
            </a:r>
            <a:br/>
            <a:br/>
            <a:r>
              <a:rPr sz="1350" b="0">
                <a:solidFill>
                  <a:srgbClr val="132D4B"/>
                </a:solidFill>
                <a:latin typeface="Microsoft YaHei"/>
              </a:rPr>
              <a:t>越接近失效，标签值越小。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1546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73152" cy="41605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3441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训练目标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764792"/>
            <a:ext cx="2834640" cy="35387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让网络学习“信号模式 → 剩余寿命”的映射。</a:t>
            </a:r>
            <a:br/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测试时输入新轴承监测片段，即可输出 RUL。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3310128"/>
            <a:ext cx="594360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3310128"/>
            <a:ext cx="594360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9. 实验验证关注点：预测精度与工程可用性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数据划分：用部分轴承退化轨迹训练，在其他轴承轨迹上测试泛化能力。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比较对象：传统数据驱动方法、单一尺度/较浅模型等基线方案。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评价重点：预测误差是否更小、曲线是否更平滑、临近失效阶段是否仍保持可靠。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132D4B"/>
                </a:solidFill>
                <a:latin typeface="Microsoft YaHei"/>
              </a:rPr>
              <a:t>工程可用性：模型是否减少人工特征依赖，并能在实时监测中持续更新 RUL。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43000"/>
            <a:ext cx="4251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143000"/>
            <a:ext cx="73152" cy="82296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252728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误差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1673352"/>
            <a:ext cx="3931920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预测值与真实 RUL 的偏差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58568"/>
            <a:ext cx="4251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2258568"/>
            <a:ext cx="73152" cy="82296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1" y="2368296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稳定性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2788920"/>
            <a:ext cx="3931920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预测曲线是否剧烈跳动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74136"/>
            <a:ext cx="4251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3374136"/>
            <a:ext cx="7315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3483864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提前量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3904487"/>
            <a:ext cx="3931920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是否能在失效前给出有效预警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489704"/>
            <a:ext cx="4251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489704"/>
            <a:ext cx="73152" cy="822960"/>
          </a:xfrm>
          <a:prstGeom prst="rect">
            <a:avLst/>
          </a:prstGeom>
          <a:solidFill>
            <a:srgbClr val="CE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1" y="4599432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CE4257"/>
                </a:solidFill>
                <a:latin typeface="Microsoft YaHei"/>
              </a:rPr>
              <a:t>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1" y="5020056"/>
            <a:ext cx="3931920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不同轴承/工况下是否仍可用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10. 主要结果：多尺度深度特征提高 RUL 预测表现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608076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20" b="0">
                <a:solidFill>
                  <a:srgbClr val="132D4B"/>
                </a:solidFill>
                <a:latin typeface="Microsoft YaHei"/>
              </a:rPr>
              <a:t>论文报告：所提多尺度深度学习方法在 PRONOSTIA 轴承数据上取得较高 RUL 预测精度。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20" b="0">
                <a:solidFill>
                  <a:srgbClr val="132D4B"/>
                </a:solidFill>
                <a:latin typeface="Microsoft YaHei"/>
              </a:rPr>
              <a:t>相较依赖手工特征或单一模型的方案，多尺度 CNN 能更充分挖掘退化信息。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20" b="0">
                <a:solidFill>
                  <a:srgbClr val="132D4B"/>
                </a:solidFill>
                <a:latin typeface="Microsoft YaHei"/>
              </a:rPr>
              <a:t>模型输出的 RUL 曲线更接近真实寿命趋势，对预测性维护更有参考价值。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20" b="0">
                <a:solidFill>
                  <a:srgbClr val="132D4B"/>
                </a:solidFill>
                <a:latin typeface="Microsoft YaHei"/>
              </a:rPr>
              <a:t>右图为教学示意：强调预测曲线与真实 RUL 的贴合关系，并非论文数值复刻。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11. 对可靠性设计的价值：把监测数据变成决策量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61722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8040" y="114300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30" b="0">
                <a:solidFill>
                  <a:srgbClr val="132D4B"/>
                </a:solidFill>
                <a:latin typeface="Microsoft YaHei"/>
              </a:rPr>
              <a:t>RUL 不是单纯算法输出，而是连接“状态监测—维修决策—设计改进”的桥梁。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30" b="0">
                <a:solidFill>
                  <a:srgbClr val="132D4B"/>
                </a:solidFill>
                <a:latin typeface="Microsoft YaHei"/>
              </a:rPr>
              <a:t>当 RUL 低于维护阈值，可安排检修、更换或降载运行，避免连锁故障。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30" b="0">
                <a:solidFill>
                  <a:srgbClr val="132D4B"/>
                </a:solidFill>
                <a:latin typeface="Microsoft YaHei"/>
              </a:rPr>
              <a:t>多台设备的 RUL 分布可帮助制定备件库存与维修资源配置。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30" b="0">
                <a:solidFill>
                  <a:srgbClr val="132D4B"/>
                </a:solidFill>
                <a:latin typeface="Microsoft YaHei"/>
              </a:rPr>
              <a:t>寿命预测误差和失效样本还能反向暴露结构、材料、润滑或装配的薄弱环节。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12. 机械可靠性视角：与失效机理如何对应？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73152" cy="438912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252728"/>
            <a:ext cx="292607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物理退化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2926079" cy="3767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接触疲劳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滚道点蚀/剥落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滚动体损伤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润滑劣化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装配偏差与载荷冲击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4300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143000"/>
            <a:ext cx="73152" cy="438912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252728"/>
            <a:ext cx="292607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可观测信号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673352"/>
            <a:ext cx="2926079" cy="3767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振动幅值增加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冲击脉冲增多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频带能量迁移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时频图纹理变化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退化趋势非线性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4300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73152" cy="43891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252728"/>
            <a:ext cx="292607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可靠性量化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673352"/>
            <a:ext cx="2926079" cy="3767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健康指标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失效阈值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RUL 分布或点估计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维护阈值</a:t>
            </a:r>
            <a:br/>
            <a:r>
              <a:rPr sz="1350" b="0">
                <a:solidFill>
                  <a:srgbClr val="132D4B"/>
                </a:solidFill>
                <a:latin typeface="Microsoft YaHei"/>
              </a:rPr>
              <a:t>设计安全裕度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337560"/>
            <a:ext cx="502921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26679" y="3337560"/>
            <a:ext cx="502921" cy="0"/>
          </a:xfrm>
          <a:prstGeom prst="line">
            <a:avLst/>
          </a:prstGeom>
          <a:ln w="25400">
            <a:solidFill>
              <a:srgbClr val="E87E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13. 局限与可改进方向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80" b="0">
                <a:solidFill>
                  <a:srgbClr val="132D4B"/>
                </a:solidFill>
                <a:latin typeface="Microsoft YaHei"/>
              </a:rPr>
              <a:t>需要较充分的带标签全寿命退化数据；真实工厂中完整失效样本通常稀缺。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80" b="0">
                <a:solidFill>
                  <a:srgbClr val="132D4B"/>
                </a:solidFill>
                <a:latin typeface="Microsoft YaHei"/>
              </a:rPr>
              <a:t>不同设备、载荷、转速、传感器安装位置会造成数据分布偏移，影响模型迁移。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80" b="0">
                <a:solidFill>
                  <a:srgbClr val="132D4B"/>
                </a:solidFill>
                <a:latin typeface="Microsoft YaHei"/>
              </a:rPr>
              <a:t>深度模型可解释性有限：预测准确不等于清楚知道具体失效机理。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80" b="0">
                <a:solidFill>
                  <a:srgbClr val="132D4B"/>
                </a:solidFill>
                <a:latin typeface="Microsoft YaHei"/>
              </a:rPr>
              <a:t>若只给出点估计 RUL，难以直接表达置信区间和风险水平。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80" b="0">
                <a:solidFill>
                  <a:srgbClr val="132D4B"/>
                </a:solidFill>
                <a:latin typeface="Microsoft YaHei"/>
              </a:rPr>
              <a:t>后续可结合物理退化模型、迁移学习、不确定性量化和在线更新。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234440"/>
            <a:ext cx="4251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9400" y="1234440"/>
            <a:ext cx="73152" cy="1051560"/>
          </a:xfrm>
          <a:prstGeom prst="rect">
            <a:avLst/>
          </a:prstGeom>
          <a:solidFill>
            <a:srgbClr val="CE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344168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CE4257"/>
                </a:solidFill>
                <a:latin typeface="Microsoft YaHei"/>
              </a:rPr>
              <a:t>给机械研究生的思考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1764792"/>
            <a:ext cx="3931920" cy="4297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可靠性设计不应把深度学习当黑盒终点，而应把它作为连接监测数据与失效机理的工具。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788920"/>
            <a:ext cx="4251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2788920"/>
            <a:ext cx="73152" cy="105156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2898648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工程落地重点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319272"/>
            <a:ext cx="3931920" cy="4297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模型需要在目标设备上校准阈值、验证误报/漏报风险，并与维修制度联动。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343400"/>
            <a:ext cx="4251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4343400"/>
            <a:ext cx="73152" cy="10515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4453128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研究延伸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4873752"/>
            <a:ext cx="3931920" cy="4297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可加入置信区间、寿命分布、成本函数和可靠性约束优化。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D4B"/>
                </a:solidFill>
                <a:latin typeface="Microsoft YaHei"/>
              </a:rPr>
              <a:t>14. 总结：这篇论文给机械可靠性设计的三点启示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2004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242316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44168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68C4"/>
                </a:solidFill>
                <a:latin typeface="Microsoft YaHei"/>
              </a:rPr>
              <a:t>启示一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3108960" cy="18013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轴承可靠性评估可以从“离线寿命试验”扩展到“在线状态预测”。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242316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344168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E87E04"/>
                </a:solidFill>
                <a:latin typeface="Microsoft YaHei"/>
              </a:rPr>
              <a:t>启示二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764792"/>
            <a:ext cx="3108960" cy="18013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时频信息 + 多尺度特征有助于捕捉复杂非线性退化过程。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2423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344168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98754"/>
                </a:solidFill>
                <a:latin typeface="Microsoft YaHei"/>
              </a:rPr>
              <a:t>启示三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764792"/>
            <a:ext cx="3108960" cy="18013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132D4B"/>
                </a:solidFill>
                <a:latin typeface="Microsoft YaHei"/>
              </a:rPr>
              <a:t>RUL 预测的最终价值在于维护决策、风险控制和设计反馈。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280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5C6574"/>
                </a:solidFill>
                <a:latin typeface="Microsoft YaHei"/>
              </a:rPr>
              <a:t>论文标题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96512"/>
            <a:ext cx="9052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32D4B"/>
                </a:solidFill>
                <a:latin typeface="Microsoft YaHei"/>
              </a:rPr>
              <a:t>Deep learning-based remaining useful life estimation of bearings using multi-scale 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1280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5C6574"/>
                </a:solidFill>
                <a:latin typeface="Microsoft YaHei"/>
              </a:rPr>
              <a:t>论文链接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681728"/>
            <a:ext cx="9052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0">
                <a:solidFill>
                  <a:srgbClr val="2D68C4"/>
                </a:solidFill>
                <a:latin typeface="Microsoft YaHei"/>
              </a:rPr>
              <a:t>https://doi.org/10.1016/j.ress.2018.11.011</a:t>
            </a:r>
            <a:br/>
            <a:r>
              <a:rPr sz="1450" b="0">
                <a:solidFill>
                  <a:srgbClr val="2D68C4"/>
                </a:solidFill>
                <a:latin typeface="Microsoft YaHei"/>
              </a:rPr>
              <a:t>https://www.sciencedirect.com/science/article/pii/S0951832018308299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5C6574"/>
                </a:solidFill>
                <a:latin typeface="Microsoft YaHei"/>
              </a:rPr>
              <a:t>参考来源：论文摘要、Highlights、DOI/ScienceDirect/INIS/IDEAS 元数据；PPT 中图示为教学重绘。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589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5C6574"/>
                </a:solidFill>
                <a:latin typeface="Microsoft YaHei"/>
              </a:rPr>
              <a:t>Deep learning-based RUL estimation of bearings | RESS 182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5C6574"/>
                </a:solidFill>
                <a:latin typeface="Microsoft YaHe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