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i.org/10.1016/j.ress.2015.10.002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i.org/10.1016/j.ress.2015.10.002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19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 rot="5400000">
            <a:off x="3790645" y="1829714"/>
            <a:ext cx="311810" cy="510235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6300000">
            <a:off x="3736555" y="2240563"/>
            <a:ext cx="311810" cy="510235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 rot="7200000">
            <a:off x="3577974" y="2623413"/>
            <a:ext cx="311810" cy="510235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8100000">
            <a:off x="3325706" y="2952174"/>
            <a:ext cx="311810" cy="510235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9000000">
            <a:off x="2996946" y="3204441"/>
            <a:ext cx="311810" cy="510235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9900000">
            <a:off x="2614095" y="3363023"/>
            <a:ext cx="311810" cy="510235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10800000">
            <a:off x="2203246" y="3417112"/>
            <a:ext cx="311810" cy="510235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11700000">
            <a:off x="1792397" y="3363023"/>
            <a:ext cx="311810" cy="510235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 rot="12600000">
            <a:off x="1409547" y="3204441"/>
            <a:ext cx="311810" cy="510235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13500000">
            <a:off x="1080786" y="2952174"/>
            <a:ext cx="311810" cy="510235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 rot="14400000">
            <a:off x="828519" y="2623413"/>
            <a:ext cx="311810" cy="510235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15300000">
            <a:off x="669937" y="2240563"/>
            <a:ext cx="311810" cy="510235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16200000">
            <a:off x="615848" y="1829714"/>
            <a:ext cx="311810" cy="510235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 rot="17100000">
            <a:off x="669937" y="1418865"/>
            <a:ext cx="311810" cy="510235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18000000">
            <a:off x="828519" y="1036015"/>
            <a:ext cx="311810" cy="510235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18900000">
            <a:off x="1080786" y="707254"/>
            <a:ext cx="311810" cy="510235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 rot="19800000">
            <a:off x="1409547" y="454987"/>
            <a:ext cx="311810" cy="510235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 rot="20700000">
            <a:off x="1792397" y="296405"/>
            <a:ext cx="311810" cy="510235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 rot="0">
            <a:off x="2203246" y="242315"/>
            <a:ext cx="311810" cy="510235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 rot="900000">
            <a:off x="2614095" y="296405"/>
            <a:ext cx="311810" cy="510235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 rot="1800000">
            <a:off x="2996946" y="454987"/>
            <a:ext cx="311810" cy="510235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 rot="2700000">
            <a:off x="3325706" y="707254"/>
            <a:ext cx="311810" cy="510235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sosceles Triangle 25"/>
          <p:cNvSpPr/>
          <p:nvPr/>
        </p:nvSpPr>
        <p:spPr>
          <a:xfrm rot="3600000">
            <a:off x="3577974" y="1036015"/>
            <a:ext cx="311810" cy="510235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sosceles Triangle 26"/>
          <p:cNvSpPr/>
          <p:nvPr/>
        </p:nvSpPr>
        <p:spPr>
          <a:xfrm rot="4500000">
            <a:off x="3736555" y="1418865"/>
            <a:ext cx="311810" cy="510235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11910" y="837590"/>
            <a:ext cx="2494483" cy="2494483"/>
          </a:xfrm>
          <a:prstGeom prst="ellipse">
            <a:avLst/>
          </a:prstGeom>
          <a:solidFill>
            <a:srgbClr val="E0E9F4"/>
          </a:solidFill>
          <a:ln w="16510">
            <a:solidFill>
              <a:srgbClr val="297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579626" y="1305305"/>
            <a:ext cx="1559052" cy="155905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5F7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018995" y="1744675"/>
            <a:ext cx="680313" cy="680313"/>
          </a:xfrm>
          <a:prstGeom prst="ellipse">
            <a:avLst/>
          </a:prstGeom>
          <a:solidFill>
            <a:srgbClr val="D2E1F1"/>
          </a:solidFill>
          <a:ln w="16510">
            <a:solidFill>
              <a:srgbClr val="19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897733" y="1432864"/>
            <a:ext cx="255117" cy="255117"/>
          </a:xfrm>
          <a:prstGeom prst="ellipse">
            <a:avLst/>
          </a:prstGeom>
          <a:solidFill>
            <a:srgbClr val="D24941"/>
          </a:solidFill>
          <a:ln w="16510">
            <a:solidFill>
              <a:srgbClr val="D24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3977639"/>
            <a:ext cx="36576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机械可靠性设计论文汇报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4526280"/>
            <a:ext cx="3840480" cy="8229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0">
                <a:solidFill>
                  <a:srgbClr val="DEE7F4"/>
                </a:solidFill>
                <a:latin typeface="Microsoft YaHei"/>
              </a:defRPr>
            </a:pPr>
            <a:r>
              <a:t>主题：失效物理 + 不确定性量化</a:t>
            </a:r>
            <a:br/>
            <a:r>
              <a:t>对象：航空发动机燃气涡轮盘低周疲劳寿命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74920" y="594360"/>
            <a:ext cx="6537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E9041"/>
                </a:solidFill>
                <a:latin typeface="Microsoft YaHei"/>
              </a:defRPr>
            </a:pPr>
            <a:r>
              <a:t>论文标题</a:t>
            </a:r>
          </a:p>
          <a:p>
            <a:pPr>
              <a:defRPr sz="2500" b="1">
                <a:solidFill>
                  <a:srgbClr val="192B49"/>
                </a:solidFill>
                <a:latin typeface="Microsoft YaHei"/>
              </a:defRPr>
            </a:pPr>
            <a:r>
              <a:t>Probabilistic Physics of Failure-based framework for fatigue life prediction of aircraft gas turbine discs under uncertainty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02352" y="2788920"/>
            <a:ext cx="630936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50" b="0">
                <a:solidFill>
                  <a:srgbClr val="667080"/>
                </a:solidFill>
                <a:latin typeface="Microsoft YaHei"/>
              </a:defRPr>
            </a:pPr>
            <a:r>
              <a:t>作者：Shun-Peng Zhu, Hong-Zhong Huang, Weiwen Peng, Hai-Kun Wang, Sankaran Mahadevan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02352" y="3337560"/>
            <a:ext cx="6309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u="sng">
                <a:solidFill>
                  <a:srgbClr val="2977C5"/>
                </a:solidFill>
                <a:latin typeface="Microsoft YaHei"/>
                <a:hlinkClick r:id="rId2"/>
              </a:rPr>
              <a:t>论文链接（DOI）：https://doi.org/10.1016/j.ress.2015.10.002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102352" y="4069080"/>
            <a:ext cx="6309360" cy="987552"/>
          </a:xfrm>
          <a:prstGeom prst="roundRect">
            <a:avLst/>
          </a:prstGeom>
          <a:solidFill>
            <a:srgbClr val="E6F1FF"/>
          </a:solidFill>
          <a:ln w="15240">
            <a:solidFill>
              <a:srgbClr val="BF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defRPr sz="1700" b="1">
                <a:solidFill>
                  <a:srgbClr val="1E2328"/>
                </a:solidFill>
                <a:latin typeface="Microsoft YaHei"/>
              </a:defRPr>
            </a:pPr>
            <a:r>
              <a:t>一句话概括：把低周疲劳的失效物理模型放入概率框架，系统传播载荷、材料、试验和模型误差，得到涡轮盘寿命分布与可靠性评价。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02352" y="5715000"/>
            <a:ext cx="630936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100" b="0">
                <a:solidFill>
                  <a:srgbClr val="667080"/>
                </a:solidFill>
                <a:latin typeface="Microsoft YaHei"/>
              </a:defRPr>
            </a:pPr>
            <a:r>
              <a:t>备注：本 PPT 不介绍期刊，仅讲解论文内容。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196A0"/>
                </a:solidFill>
                <a:latin typeface="Microsoft YaHe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7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808C"/>
                </a:solidFill>
                <a:latin typeface="Microsoft YaHei"/>
              </a:defRPr>
            </a:pPr>
            <a:r>
              <a:t>论文讲解 | Reliability Engineering &amp; System Safety, 2016, 146: 1-12 | DOI: 10.1016/j.ress.2015.10.002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92B49"/>
                </a:solidFill>
                <a:latin typeface="Microsoft YaHei"/>
              </a:defRPr>
            </a:pPr>
            <a:r>
              <a:t>1  研究对象与工程问题</a:t>
            </a:r>
          </a:p>
          <a:p>
            <a:pPr>
              <a:defRPr sz="1200">
                <a:solidFill>
                  <a:srgbClr val="667080"/>
                </a:solidFill>
                <a:latin typeface="Microsoft YaHei"/>
              </a:defRPr>
            </a:pPr>
            <a:r>
              <a:t>高压涡轮盘是航空发动机典型安全关键机械部件</a:t>
            </a:r>
          </a:p>
        </p:txBody>
      </p:sp>
      <p:sp>
        <p:nvSpPr>
          <p:cNvPr id="6" name="Isosceles Triangle 5"/>
          <p:cNvSpPr/>
          <p:nvPr/>
        </p:nvSpPr>
        <p:spPr>
          <a:xfrm rot="5400000">
            <a:off x="2662275" y="2873959"/>
            <a:ext cx="231343" cy="378561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6300000">
            <a:off x="2622144" y="3178782"/>
            <a:ext cx="231343" cy="378561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7200000">
            <a:off x="2504487" y="3462832"/>
            <a:ext cx="231343" cy="378561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8100000">
            <a:off x="2317321" y="3706752"/>
            <a:ext cx="231343" cy="378561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9000000">
            <a:off x="2073402" y="3893918"/>
            <a:ext cx="231343" cy="378561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9900000">
            <a:off x="1789351" y="4011575"/>
            <a:ext cx="231343" cy="378561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 rot="10800000">
            <a:off x="1484528" y="4051706"/>
            <a:ext cx="231343" cy="378561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11700000">
            <a:off x="1179704" y="4011575"/>
            <a:ext cx="231343" cy="378561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 rot="12600000">
            <a:off x="895654" y="3893918"/>
            <a:ext cx="231343" cy="378561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13500000">
            <a:off x="651735" y="3706752"/>
            <a:ext cx="231343" cy="378561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14400000">
            <a:off x="464569" y="3462832"/>
            <a:ext cx="231343" cy="378561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 rot="15300000">
            <a:off x="346911" y="3178782"/>
            <a:ext cx="231343" cy="378561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16200000">
            <a:off x="306781" y="2873959"/>
            <a:ext cx="231343" cy="378561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17100000">
            <a:off x="346911" y="2569135"/>
            <a:ext cx="231343" cy="378561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 rot="18000000">
            <a:off x="464569" y="2285085"/>
            <a:ext cx="231343" cy="378561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 rot="18900000">
            <a:off x="651735" y="2041166"/>
            <a:ext cx="231343" cy="378561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 rot="19800000">
            <a:off x="895654" y="1854000"/>
            <a:ext cx="231343" cy="378561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 rot="20700000">
            <a:off x="1179704" y="1736342"/>
            <a:ext cx="231343" cy="378561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 rot="0">
            <a:off x="1484528" y="1696212"/>
            <a:ext cx="231343" cy="378561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 rot="900000">
            <a:off x="1789351" y="1736342"/>
            <a:ext cx="231343" cy="378561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sosceles Triangle 25"/>
          <p:cNvSpPr/>
          <p:nvPr/>
        </p:nvSpPr>
        <p:spPr>
          <a:xfrm rot="1800000">
            <a:off x="2073402" y="1854000"/>
            <a:ext cx="231343" cy="378561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sosceles Triangle 26"/>
          <p:cNvSpPr/>
          <p:nvPr/>
        </p:nvSpPr>
        <p:spPr>
          <a:xfrm rot="2700000">
            <a:off x="2317321" y="2041166"/>
            <a:ext cx="231343" cy="378561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 rot="3600000">
            <a:off x="2504487" y="2285085"/>
            <a:ext cx="231343" cy="378561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 rot="4500000">
            <a:off x="2622144" y="2569135"/>
            <a:ext cx="231343" cy="378561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74827" y="2137867"/>
            <a:ext cx="1850745" cy="1850745"/>
          </a:xfrm>
          <a:prstGeom prst="ellipse">
            <a:avLst/>
          </a:prstGeom>
          <a:solidFill>
            <a:srgbClr val="E0E9F4"/>
          </a:solidFill>
          <a:ln w="16510">
            <a:solidFill>
              <a:srgbClr val="297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842" y="2484882"/>
            <a:ext cx="1156716" cy="115671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5F7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347825" y="2810865"/>
            <a:ext cx="504748" cy="504748"/>
          </a:xfrm>
          <a:prstGeom prst="ellipse">
            <a:avLst/>
          </a:prstGeom>
          <a:solidFill>
            <a:srgbClr val="D2E1F1"/>
          </a:solidFill>
          <a:ln w="16510">
            <a:solidFill>
              <a:srgbClr val="19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999792" y="2579522"/>
            <a:ext cx="189280" cy="189280"/>
          </a:xfrm>
          <a:prstGeom prst="ellipse">
            <a:avLst/>
          </a:prstGeom>
          <a:solidFill>
            <a:srgbClr val="D24941"/>
          </a:solidFill>
          <a:ln w="16510">
            <a:solidFill>
              <a:srgbClr val="D24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36291" y="2379726"/>
            <a:ext cx="1261872" cy="2944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000" b="1">
                <a:solidFill>
                  <a:srgbClr val="D24941"/>
                </a:solidFill>
                <a:latin typeface="Microsoft YaHei"/>
              </a:defRPr>
            </a:pPr>
            <a:r>
              <a:t>危险截面/孔缘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2125980" y="2558491"/>
            <a:ext cx="157734" cy="84125"/>
          </a:xfrm>
          <a:prstGeom prst="line">
            <a:avLst/>
          </a:prstGeom>
          <a:ln w="17780">
            <a:solidFill>
              <a:srgbClr val="D249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3246120" y="1143000"/>
            <a:ext cx="3749039" cy="18288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 bIns="73152"/>
          <a:lstStyle/>
          <a:p>
            <a:pPr algn="ctr">
              <a:defRPr sz="1500" b="1">
                <a:solidFill>
                  <a:srgbClr val="192B49"/>
                </a:solidFill>
                <a:latin typeface="Microsoft YaHei"/>
              </a:defRPr>
            </a:pPr>
            <a:r>
              <a:t>为什么要做概率寿命预测？</a:t>
            </a:r>
          </a:p>
          <a:p>
            <a:pPr>
              <a:spcAft>
                <a:spcPts val="300"/>
              </a:spcAft>
              <a:defRPr sz="1320">
                <a:solidFill>
                  <a:srgbClr val="1E2328"/>
                </a:solidFill>
                <a:latin typeface="Microsoft YaHei"/>
              </a:defRPr>
            </a:pPr>
            <a:r>
              <a:t>• 承受离心载荷、热载荷和启停循环载荷</a:t>
            </a:r>
          </a:p>
          <a:p>
            <a:pPr>
              <a:spcAft>
                <a:spcPts val="300"/>
              </a:spcAft>
              <a:defRPr sz="1320">
                <a:solidFill>
                  <a:srgbClr val="1E2328"/>
                </a:solidFill>
                <a:latin typeface="Microsoft YaHei"/>
              </a:defRPr>
            </a:pPr>
            <a:r>
              <a:t>• 高温合金在低周疲劳下寿命离散性显著</a:t>
            </a:r>
          </a:p>
          <a:p>
            <a:pPr>
              <a:spcAft>
                <a:spcPts val="300"/>
              </a:spcAft>
              <a:defRPr sz="1320">
                <a:solidFill>
                  <a:srgbClr val="1E2328"/>
                </a:solidFill>
                <a:latin typeface="Microsoft YaHei"/>
              </a:defRPr>
            </a:pPr>
            <a:r>
              <a:t>• 传统确定性寿命给出单一结果，难以回答“失效概率多大”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43800" y="1051560"/>
            <a:ext cx="3566160" cy="594360"/>
          </a:xfrm>
          <a:prstGeom prst="roundRect">
            <a:avLst/>
          </a:prstGeom>
          <a:solidFill>
            <a:srgbClr val="FFF4E8"/>
          </a:solidFill>
          <a:ln w="15240">
            <a:solidFill>
              <a:srgbClr val="EE9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824B14"/>
                </a:solidFill>
                <a:latin typeface="Microsoft YaHei"/>
              </a:defRPr>
            </a:pPr>
            <a:r>
              <a:t>工程目标：寿命不仅要“算出来”，还要“带置信度”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726679" y="3246120"/>
            <a:ext cx="2971801" cy="0"/>
          </a:xfrm>
          <a:prstGeom prst="line">
            <a:avLst/>
          </a:prstGeom>
          <a:ln w="1270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7726679" y="2057400"/>
            <a:ext cx="0" cy="1188720"/>
          </a:xfrm>
          <a:prstGeom prst="line">
            <a:avLst/>
          </a:prstGeom>
          <a:ln w="1270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7726679" y="2426825"/>
            <a:ext cx="270164" cy="224935"/>
          </a:xfrm>
          <a:prstGeom prst="line">
            <a:avLst/>
          </a:prstGeom>
          <a:ln w="27940">
            <a:solidFill>
              <a:srgbClr val="EE90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996843" y="2273305"/>
            <a:ext cx="270164" cy="153520"/>
          </a:xfrm>
          <a:prstGeom prst="line">
            <a:avLst/>
          </a:prstGeom>
          <a:ln w="27940">
            <a:solidFill>
              <a:srgbClr val="EE90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8267007" y="2239942"/>
            <a:ext cx="270163" cy="33363"/>
          </a:xfrm>
          <a:prstGeom prst="line">
            <a:avLst/>
          </a:prstGeom>
          <a:ln w="27940">
            <a:solidFill>
              <a:srgbClr val="EE90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537170" y="2239942"/>
            <a:ext cx="270164" cy="97386"/>
          </a:xfrm>
          <a:prstGeom prst="line">
            <a:avLst/>
          </a:prstGeom>
          <a:ln w="27940">
            <a:solidFill>
              <a:srgbClr val="EE90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807334" y="2337328"/>
            <a:ext cx="270164" cy="197216"/>
          </a:xfrm>
          <a:prstGeom prst="line">
            <a:avLst/>
          </a:prstGeom>
          <a:ln w="27940">
            <a:solidFill>
              <a:srgbClr val="EE90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077498" y="2534544"/>
            <a:ext cx="270163" cy="234431"/>
          </a:xfrm>
          <a:prstGeom prst="line">
            <a:avLst/>
          </a:prstGeom>
          <a:ln w="27940">
            <a:solidFill>
              <a:srgbClr val="EE90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347661" y="2768975"/>
            <a:ext cx="270164" cy="197216"/>
          </a:xfrm>
          <a:prstGeom prst="line">
            <a:avLst/>
          </a:prstGeom>
          <a:ln w="27940">
            <a:solidFill>
              <a:srgbClr val="EE90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17825" y="2966191"/>
            <a:ext cx="270164" cy="97386"/>
          </a:xfrm>
          <a:prstGeom prst="line">
            <a:avLst/>
          </a:prstGeom>
          <a:ln w="27940">
            <a:solidFill>
              <a:srgbClr val="EE90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9887989" y="3030214"/>
            <a:ext cx="270163" cy="33363"/>
          </a:xfrm>
          <a:prstGeom prst="line">
            <a:avLst/>
          </a:prstGeom>
          <a:ln w="27940">
            <a:solidFill>
              <a:srgbClr val="EE90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0158152" y="2876694"/>
            <a:ext cx="270164" cy="153520"/>
          </a:xfrm>
          <a:prstGeom prst="line">
            <a:avLst/>
          </a:prstGeom>
          <a:ln w="27940">
            <a:solidFill>
              <a:srgbClr val="EE90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0428316" y="2651760"/>
            <a:ext cx="270164" cy="224934"/>
          </a:xfrm>
          <a:prstGeom prst="line">
            <a:avLst/>
          </a:prstGeom>
          <a:ln w="27940">
            <a:solidFill>
              <a:srgbClr val="EE90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726679" y="3310128"/>
            <a:ext cx="310896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0">
                <a:solidFill>
                  <a:srgbClr val="667080"/>
                </a:solidFill>
                <a:latin typeface="Microsoft YaHei"/>
              </a:defRPr>
            </a:pPr>
            <a:r>
              <a:t>启停/任务剖面导致周期性热-机械应变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543800" y="4069080"/>
            <a:ext cx="3566160" cy="1143000"/>
          </a:xfrm>
          <a:prstGeom prst="roundRect">
            <a:avLst/>
          </a:prstGeom>
          <a:solidFill>
            <a:srgbClr val="E6F1FF"/>
          </a:solidFill>
          <a:ln w="15240">
            <a:solidFill>
              <a:srgbClr val="297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92B49"/>
                </a:solidFill>
                <a:latin typeface="Microsoft YaHei"/>
              </a:defRPr>
            </a:pPr>
            <a:r>
              <a:t>输入有随机性 → 寿命是分布</a:t>
            </a:r>
            <a:br/>
            <a:r>
              <a:t>可靠性设计要关注尾部风险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196A0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A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808C"/>
                </a:solidFill>
                <a:latin typeface="Microsoft YaHei"/>
              </a:defRPr>
            </a:pPr>
            <a:r>
              <a:t>论文讲解 | Reliability Engineering &amp; System Safety, 2016, 146: 1-12 | DOI: 10.1016/j.ress.2015.10.002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92B49"/>
                </a:solidFill>
                <a:latin typeface="Microsoft YaHei"/>
              </a:defRPr>
            </a:pPr>
            <a:r>
              <a:t>2  论文要解决的核心问题</a:t>
            </a:r>
          </a:p>
          <a:p>
            <a:pPr>
              <a:defRPr sz="1200">
                <a:solidFill>
                  <a:srgbClr val="667080"/>
                </a:solidFill>
                <a:latin typeface="Microsoft YaHei"/>
              </a:defRPr>
            </a:pPr>
            <a:r>
              <a:t>把疲劳寿命预测从“确定性计算”升级为“概率失效物理评估”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43000"/>
            <a:ext cx="3017520" cy="914400"/>
          </a:xfrm>
          <a:prstGeom prst="roundRect">
            <a:avLst/>
          </a:prstGeom>
          <a:solidFill>
            <a:srgbClr val="E6F1FF"/>
          </a:solidFill>
          <a:ln w="15240">
            <a:solidFill>
              <a:srgbClr val="297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92B49"/>
                </a:solidFill>
                <a:latin typeface="Microsoft YaHei"/>
              </a:defRPr>
            </a:pPr>
            <a:r>
              <a:t>确定性 PoF 模型</a:t>
            </a:r>
            <a:br/>
            <a:r>
              <a:t>N = f(载荷, 材料, 几何, 温度)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143000"/>
            <a:ext cx="3017520" cy="914400"/>
          </a:xfrm>
          <a:prstGeom prst="roundRect">
            <a:avLst/>
          </a:prstGeom>
          <a:solidFill>
            <a:srgbClr val="EBFAF8"/>
          </a:solidFill>
          <a:ln w="15240">
            <a:solidFill>
              <a:srgbClr val="25A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92B49"/>
                </a:solidFill>
                <a:latin typeface="Microsoft YaHei"/>
              </a:defRPr>
            </a:pPr>
            <a:r>
              <a:t>不确定性传播</a:t>
            </a:r>
            <a:br/>
            <a:r>
              <a:t>输入分散 + 参数估计 + 模型误差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143000"/>
            <a:ext cx="2926080" cy="914400"/>
          </a:xfrm>
          <a:prstGeom prst="roundRect">
            <a:avLst/>
          </a:prstGeom>
          <a:solidFill>
            <a:srgbClr val="FFF4E8"/>
          </a:solidFill>
          <a:ln w="15240">
            <a:solidFill>
              <a:srgbClr val="EE9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92B49"/>
                </a:solidFill>
                <a:latin typeface="Microsoft YaHei"/>
              </a:defRPr>
            </a:pPr>
            <a:r>
              <a:t>输出</a:t>
            </a:r>
            <a:br/>
            <a:r>
              <a:t>寿命分布 / 可靠度 / 敏感性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94760" y="1600200"/>
            <a:ext cx="704088" cy="0"/>
          </a:xfrm>
          <a:prstGeom prst="line">
            <a:avLst/>
          </a:prstGeom>
          <a:ln w="2540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35240" y="1600200"/>
            <a:ext cx="685800" cy="0"/>
          </a:xfrm>
          <a:prstGeom prst="line">
            <a:avLst/>
          </a:prstGeom>
          <a:ln w="2540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1520" y="2743200"/>
            <a:ext cx="3246120" cy="242316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 bIns="73152"/>
          <a:lstStyle/>
          <a:p>
            <a:pPr algn="ctr">
              <a:defRPr sz="1500" b="1">
                <a:solidFill>
                  <a:srgbClr val="192B49"/>
                </a:solidFill>
                <a:latin typeface="Microsoft YaHei"/>
              </a:defRPr>
            </a:pPr>
            <a:r>
              <a:t>问题 A：不确定性来源</a:t>
            </a:r>
          </a:p>
          <a:p>
            <a:pPr>
              <a:spcAft>
                <a:spcPts val="300"/>
              </a:spcAft>
              <a:defRPr sz="1320">
                <a:solidFill>
                  <a:srgbClr val="1E2328"/>
                </a:solidFill>
                <a:latin typeface="Microsoft YaHei"/>
              </a:defRPr>
            </a:pPr>
            <a:r>
              <a:t>• 不同批次材料的疲劳性能如何进入模型？</a:t>
            </a:r>
          </a:p>
          <a:p>
            <a:pPr>
              <a:spcAft>
                <a:spcPts val="300"/>
              </a:spcAft>
              <a:defRPr sz="1320">
                <a:solidFill>
                  <a:srgbClr val="1E2328"/>
                </a:solidFill>
                <a:latin typeface="Microsoft YaHei"/>
              </a:defRPr>
            </a:pPr>
            <a:r>
              <a:t>• 试验样本少时，参数不确定性如何处理？</a:t>
            </a:r>
          </a:p>
          <a:p>
            <a:pPr>
              <a:spcAft>
                <a:spcPts val="300"/>
              </a:spcAft>
              <a:defRPr sz="1320">
                <a:solidFill>
                  <a:srgbClr val="1E2328"/>
                </a:solidFill>
                <a:latin typeface="Microsoft YaHei"/>
              </a:defRPr>
            </a:pPr>
            <a:r>
              <a:t>• 模型本身不完美，误差如何量化？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743200"/>
            <a:ext cx="3246120" cy="242316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 bIns="73152"/>
          <a:lstStyle/>
          <a:p>
            <a:pPr algn="ctr">
              <a:defRPr sz="1500" b="1">
                <a:solidFill>
                  <a:srgbClr val="192B49"/>
                </a:solidFill>
                <a:latin typeface="Microsoft YaHei"/>
              </a:defRPr>
            </a:pPr>
            <a:r>
              <a:t>问题 B：设计决策</a:t>
            </a:r>
          </a:p>
          <a:p>
            <a:pPr>
              <a:spcAft>
                <a:spcPts val="300"/>
              </a:spcAft>
              <a:defRPr sz="1320">
                <a:solidFill>
                  <a:srgbClr val="1E2328"/>
                </a:solidFill>
                <a:latin typeface="Microsoft YaHei"/>
              </a:defRPr>
            </a:pPr>
            <a:r>
              <a:t>• 寿命预测区间能否覆盖试验结果？</a:t>
            </a:r>
          </a:p>
          <a:p>
            <a:pPr>
              <a:spcAft>
                <a:spcPts val="300"/>
              </a:spcAft>
              <a:defRPr sz="1320">
                <a:solidFill>
                  <a:srgbClr val="1E2328"/>
                </a:solidFill>
                <a:latin typeface="Microsoft YaHei"/>
              </a:defRPr>
            </a:pPr>
            <a:r>
              <a:t>• 哪些变量最值得继续测试以降低不确定性？</a:t>
            </a:r>
          </a:p>
          <a:p>
            <a:pPr>
              <a:spcAft>
                <a:spcPts val="300"/>
              </a:spcAft>
              <a:defRPr sz="1320">
                <a:solidFill>
                  <a:srgbClr val="1E2328"/>
                </a:solidFill>
                <a:latin typeface="Microsoft YaHei"/>
              </a:defRPr>
            </a:pPr>
            <a:r>
              <a:t>• 如何转化为可靠性设计指标？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743200"/>
            <a:ext cx="2971800" cy="2423160"/>
          </a:xfrm>
          <a:prstGeom prst="roundRect">
            <a:avLst/>
          </a:prstGeom>
          <a:solidFill>
            <a:srgbClr val="FFFAF5"/>
          </a:solidFill>
          <a:ln w="12700">
            <a:solidFill>
              <a:srgbClr val="F5C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 bIns="73152"/>
          <a:lstStyle/>
          <a:p>
            <a:pPr algn="ctr">
              <a:defRPr sz="1500" b="1">
                <a:solidFill>
                  <a:srgbClr val="9A5314"/>
                </a:solidFill>
                <a:latin typeface="Microsoft YaHei"/>
              </a:defRPr>
            </a:pPr>
            <a:r>
              <a:t>可靠性视角</a:t>
            </a:r>
          </a:p>
          <a:p>
            <a:pPr>
              <a:spcAft>
                <a:spcPts val="300"/>
              </a:spcAft>
              <a:defRPr sz="1320">
                <a:solidFill>
                  <a:srgbClr val="1E2328"/>
                </a:solidFill>
                <a:latin typeface="Microsoft YaHei"/>
              </a:defRPr>
            </a:pPr>
            <a:r>
              <a:t>• 不是只追求平均寿命</a:t>
            </a:r>
          </a:p>
          <a:p>
            <a:pPr>
              <a:spcAft>
                <a:spcPts val="300"/>
              </a:spcAft>
              <a:defRPr sz="1320">
                <a:solidFill>
                  <a:srgbClr val="1E2328"/>
                </a:solidFill>
                <a:latin typeface="Microsoft YaHei"/>
              </a:defRPr>
            </a:pPr>
            <a:r>
              <a:t>• 重点看低分位寿命和失效概率</a:t>
            </a:r>
          </a:p>
          <a:p>
            <a:pPr>
              <a:spcAft>
                <a:spcPts val="300"/>
              </a:spcAft>
              <a:defRPr sz="1320">
                <a:solidFill>
                  <a:srgbClr val="1E2328"/>
                </a:solidFill>
                <a:latin typeface="Microsoft YaHei"/>
              </a:defRPr>
            </a:pPr>
            <a:r>
              <a:t>• 为寿命定限、试验规划提供依据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196A0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808C"/>
                </a:solidFill>
                <a:latin typeface="Microsoft YaHei"/>
              </a:defRPr>
            </a:pPr>
            <a:r>
              <a:t>论文讲解 | Reliability Engineering &amp; System Safety, 2016, 146: 1-12 | DOI: 10.1016/j.ress.2015.10.002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92B49"/>
                </a:solidFill>
                <a:latin typeface="Microsoft YaHei"/>
              </a:defRPr>
            </a:pPr>
            <a:r>
              <a:t>3  论文提出的总体框架</a:t>
            </a:r>
          </a:p>
          <a:p>
            <a:pPr>
              <a:defRPr sz="1200">
                <a:solidFill>
                  <a:srgbClr val="667080"/>
                </a:solidFill>
                <a:latin typeface="Microsoft YaHei"/>
              </a:defRPr>
            </a:pPr>
            <a:r>
              <a:t>Probabilistic Physics of Failure-based framework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1737360" cy="1051560"/>
          </a:xfrm>
          <a:prstGeom prst="roundRect">
            <a:avLst/>
          </a:prstGeom>
          <a:solidFill>
            <a:srgbClr val="E6F1FF"/>
          </a:solidFill>
          <a:ln w="15240">
            <a:solidFill>
              <a:srgbClr val="297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192B49"/>
                </a:solidFill>
                <a:latin typeface="Microsoft YaHei"/>
              </a:defRPr>
            </a:pPr>
            <a:r>
              <a:t>任务载荷/温度谱</a:t>
            </a:r>
            <a:br/>
            <a:r>
              <a:t>离心力、热循环、飞行任务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77440" y="1847088"/>
            <a:ext cx="393192" cy="0"/>
          </a:xfrm>
          <a:prstGeom prst="line">
            <a:avLst/>
          </a:prstGeom>
          <a:ln w="2540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34640" y="1325880"/>
            <a:ext cx="1737360" cy="1051560"/>
          </a:xfrm>
          <a:prstGeom prst="roundRect">
            <a:avLst/>
          </a:prstGeom>
          <a:solidFill>
            <a:srgbClr val="EBFAF8"/>
          </a:solidFill>
          <a:ln w="15240">
            <a:solidFill>
              <a:srgbClr val="25A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192B49"/>
                </a:solidFill>
                <a:latin typeface="Microsoft YaHei"/>
              </a:defRPr>
            </a:pPr>
            <a:r>
              <a:t>有限元/应力应变</a:t>
            </a:r>
            <a:br/>
            <a:r>
              <a:t>关键位置的应力-应变响应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617720" y="1847088"/>
            <a:ext cx="393192" cy="0"/>
          </a:xfrm>
          <a:prstGeom prst="line">
            <a:avLst/>
          </a:prstGeom>
          <a:ln w="2540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74920" y="1325880"/>
            <a:ext cx="1737360" cy="1051560"/>
          </a:xfrm>
          <a:prstGeom prst="roundRect">
            <a:avLst/>
          </a:prstGeom>
          <a:solidFill>
            <a:srgbClr val="FAEFFF"/>
          </a:solidFill>
          <a:ln w="15240">
            <a:solidFill>
              <a:srgbClr val="7C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192B49"/>
                </a:solidFill>
                <a:latin typeface="Microsoft YaHei"/>
              </a:defRPr>
            </a:pPr>
            <a:r>
              <a:t>低周疲劳 PoF 模型</a:t>
            </a:r>
            <a:br/>
            <a:r>
              <a:t>损伤参数 → 疲劳寿命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0" y="1847088"/>
            <a:ext cx="393192" cy="0"/>
          </a:xfrm>
          <a:prstGeom prst="line">
            <a:avLst/>
          </a:prstGeom>
          <a:ln w="2540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315200" y="1325880"/>
            <a:ext cx="1737360" cy="1051560"/>
          </a:xfrm>
          <a:prstGeom prst="roundRect">
            <a:avLst/>
          </a:prstGeom>
          <a:solidFill>
            <a:srgbClr val="FFF4E8"/>
          </a:solidFill>
          <a:ln w="15240">
            <a:solidFill>
              <a:srgbClr val="EE9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192B49"/>
                </a:solidFill>
                <a:latin typeface="Microsoft YaHei"/>
              </a:defRPr>
            </a:pPr>
            <a:r>
              <a:t>不确定性量化</a:t>
            </a:r>
            <a:br/>
            <a:r>
              <a:t>输入、统计、模型误差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98280" y="1847088"/>
            <a:ext cx="393192" cy="0"/>
          </a:xfrm>
          <a:prstGeom prst="line">
            <a:avLst/>
          </a:prstGeom>
          <a:ln w="2540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555480" y="1325880"/>
            <a:ext cx="1737360" cy="1051560"/>
          </a:xfrm>
          <a:prstGeom prst="roundRect">
            <a:avLst/>
          </a:prstGeom>
          <a:solidFill>
            <a:srgbClr val="EDF8EF"/>
          </a:solidFill>
          <a:ln w="15240">
            <a:solidFill>
              <a:srgbClr val="50A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192B49"/>
                </a:solidFill>
                <a:latin typeface="Microsoft YaHei"/>
              </a:defRPr>
            </a:pPr>
            <a:r>
              <a:t>寿命分布与可靠性</a:t>
            </a:r>
            <a:br/>
            <a:r>
              <a:t>P(N&gt;n)、分位寿命、敏感性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74519" y="3749039"/>
            <a:ext cx="2560320" cy="777240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66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92B49"/>
                </a:solidFill>
                <a:latin typeface="Microsoft YaHei"/>
              </a:defRPr>
            </a:pPr>
            <a:r>
              <a:t>实验数据</a:t>
            </a:r>
            <a:br/>
            <a:r>
              <a:t>GH4133 合金 + 全尺寸涡轮盘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3749039"/>
            <a:ext cx="2560320" cy="777240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66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92B49"/>
                </a:solidFill>
                <a:latin typeface="Microsoft YaHei"/>
              </a:defRPr>
            </a:pPr>
            <a:r>
              <a:t>贝叶斯/统计校准</a:t>
            </a:r>
            <a:br/>
            <a:r>
              <a:t>更新模型参数与误差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3749039"/>
            <a:ext cx="2560320" cy="777240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66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92B49"/>
                </a:solidFill>
                <a:latin typeface="Microsoft YaHei"/>
              </a:defRPr>
            </a:pPr>
            <a:r>
              <a:t>验证预测区间</a:t>
            </a:r>
            <a:br/>
            <a:r>
              <a:t>检验工程可用性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434840" y="4133087"/>
            <a:ext cx="320040" cy="0"/>
          </a:xfrm>
          <a:prstGeom prst="line">
            <a:avLst/>
          </a:prstGeom>
          <a:ln w="2540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360920" y="4133087"/>
            <a:ext cx="320040" cy="0"/>
          </a:xfrm>
          <a:prstGeom prst="line">
            <a:avLst/>
          </a:prstGeom>
          <a:ln w="2540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14400" y="5303520"/>
            <a:ext cx="1042416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000" b="1">
                <a:solidFill>
                  <a:srgbClr val="192B49"/>
                </a:solidFill>
                <a:latin typeface="Microsoft YaHei"/>
              </a:defRPr>
            </a:pPr>
            <a:r>
              <a:t>核心思想：保留物理模型的可解释性，同时用概率方法表达“我们知道多少、不知道多少”。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196A0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24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808C"/>
                </a:solidFill>
                <a:latin typeface="Microsoft YaHei"/>
              </a:defRPr>
            </a:pPr>
            <a:r>
              <a:t>论文讲解 | Reliability Engineering &amp; System Safety, 2016, 146: 1-12 | DOI: 10.1016/j.ress.2015.10.002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92B49"/>
                </a:solidFill>
                <a:latin typeface="Microsoft YaHei"/>
              </a:defRPr>
            </a:pPr>
            <a:r>
              <a:t>4  失效机理：低周疲劳（LCF）</a:t>
            </a:r>
          </a:p>
          <a:p>
            <a:pPr>
              <a:defRPr sz="1200">
                <a:solidFill>
                  <a:srgbClr val="667080"/>
                </a:solidFill>
                <a:latin typeface="Microsoft YaHei"/>
              </a:defRPr>
            </a:pPr>
            <a:r>
              <a:t>论文面向高温高载下的涡轮盘循环损伤</a:t>
            </a:r>
          </a:p>
        </p:txBody>
      </p:sp>
      <p:sp>
        <p:nvSpPr>
          <p:cNvPr id="6" name="Isosceles Triangle 5"/>
          <p:cNvSpPr/>
          <p:nvPr/>
        </p:nvSpPr>
        <p:spPr>
          <a:xfrm rot="5400000">
            <a:off x="3074670" y="2583179"/>
            <a:ext cx="251460" cy="411479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6300000">
            <a:off x="3031049" y="2914509"/>
            <a:ext cx="251460" cy="411479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7200000">
            <a:off x="2903161" y="3223260"/>
            <a:ext cx="251460" cy="411479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8100000">
            <a:off x="2699719" y="3488389"/>
            <a:ext cx="251460" cy="411479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9000000">
            <a:off x="2434590" y="3691831"/>
            <a:ext cx="251460" cy="411479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9900000">
            <a:off x="2125839" y="3819719"/>
            <a:ext cx="251460" cy="411479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 rot="10800000">
            <a:off x="1794510" y="3863340"/>
            <a:ext cx="251460" cy="411479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11700000">
            <a:off x="1463180" y="3819719"/>
            <a:ext cx="251460" cy="411479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 rot="12600000">
            <a:off x="1154430" y="3691831"/>
            <a:ext cx="251460" cy="411479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13500000">
            <a:off x="889300" y="3488389"/>
            <a:ext cx="251460" cy="411479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14400000">
            <a:off x="685858" y="3223260"/>
            <a:ext cx="251460" cy="411479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 rot="15300000">
            <a:off x="557970" y="2914509"/>
            <a:ext cx="251460" cy="411479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16200000">
            <a:off x="514350" y="2583179"/>
            <a:ext cx="251460" cy="411479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17100000">
            <a:off x="557970" y="2251850"/>
            <a:ext cx="251460" cy="411479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 rot="18000000">
            <a:off x="685858" y="1943100"/>
            <a:ext cx="251460" cy="411479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 rot="18900000">
            <a:off x="889300" y="1677970"/>
            <a:ext cx="251460" cy="411479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 rot="19800000">
            <a:off x="1154429" y="1474528"/>
            <a:ext cx="251460" cy="411479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 rot="20700000">
            <a:off x="1463180" y="1346640"/>
            <a:ext cx="251460" cy="411479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 rot="0">
            <a:off x="1794509" y="1303019"/>
            <a:ext cx="251460" cy="411479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 rot="900000">
            <a:off x="2125839" y="1346640"/>
            <a:ext cx="251460" cy="411479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sosceles Triangle 25"/>
          <p:cNvSpPr/>
          <p:nvPr/>
        </p:nvSpPr>
        <p:spPr>
          <a:xfrm rot="1800000">
            <a:off x="2434590" y="1474528"/>
            <a:ext cx="251460" cy="411479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sosceles Triangle 26"/>
          <p:cNvSpPr/>
          <p:nvPr/>
        </p:nvSpPr>
        <p:spPr>
          <a:xfrm rot="2700000">
            <a:off x="2699719" y="1677970"/>
            <a:ext cx="251460" cy="411479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 rot="3600000">
            <a:off x="2903161" y="1943099"/>
            <a:ext cx="251460" cy="411479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 rot="4500000">
            <a:off x="3031049" y="2251850"/>
            <a:ext cx="251460" cy="411479"/>
          </a:xfrm>
          <a:prstGeom prst="triangle">
            <a:avLst/>
          </a:prstGeom>
          <a:solidFill>
            <a:srgbClr val="CED8E6"/>
          </a:solidFill>
          <a:ln w="6350">
            <a:solidFill>
              <a:srgbClr val="A0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4400" y="1783079"/>
            <a:ext cx="2011680" cy="2011680"/>
          </a:xfrm>
          <a:prstGeom prst="ellipse">
            <a:avLst/>
          </a:prstGeom>
          <a:solidFill>
            <a:srgbClr val="E0E9F4"/>
          </a:solidFill>
          <a:ln w="16510">
            <a:solidFill>
              <a:srgbClr val="297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291590" y="2160270"/>
            <a:ext cx="1257300" cy="12573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5F7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645920" y="2514600"/>
            <a:ext cx="548640" cy="548640"/>
          </a:xfrm>
          <a:prstGeom prst="ellipse">
            <a:avLst/>
          </a:prstGeom>
          <a:solidFill>
            <a:srgbClr val="D2E1F1"/>
          </a:solidFill>
          <a:ln w="16510">
            <a:solidFill>
              <a:srgbClr val="19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354580" y="2263139"/>
            <a:ext cx="205739" cy="205739"/>
          </a:xfrm>
          <a:prstGeom prst="ellipse">
            <a:avLst/>
          </a:prstGeom>
          <a:solidFill>
            <a:srgbClr val="D24941"/>
          </a:solidFill>
          <a:ln w="16510">
            <a:solidFill>
              <a:srgbClr val="D24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20340" y="2045969"/>
            <a:ext cx="13716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000" b="1">
                <a:solidFill>
                  <a:srgbClr val="D24941"/>
                </a:solidFill>
                <a:latin typeface="Microsoft YaHei"/>
              </a:defRPr>
            </a:pPr>
            <a:r>
              <a:t>危险截面/孔缘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2491740" y="2240279"/>
            <a:ext cx="171450" cy="91441"/>
          </a:xfrm>
          <a:prstGeom prst="line">
            <a:avLst/>
          </a:prstGeom>
          <a:ln w="17780">
            <a:solidFill>
              <a:srgbClr val="D249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Arc 35"/>
          <p:cNvSpPr/>
          <p:nvPr/>
        </p:nvSpPr>
        <p:spPr>
          <a:xfrm>
            <a:off x="4800600" y="1417320"/>
            <a:ext cx="1828800" cy="1325880"/>
          </a:xfrm>
          <a:prstGeom prst="arc">
            <a:avLst/>
          </a:prstGeom>
          <a:ln w="38100">
            <a:solidFill>
              <a:srgbClr val="D24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rc 36"/>
          <p:cNvSpPr/>
          <p:nvPr/>
        </p:nvSpPr>
        <p:spPr>
          <a:xfrm rot="10800000">
            <a:off x="4800600" y="1783080"/>
            <a:ext cx="1828800" cy="1325880"/>
          </a:xfrm>
          <a:prstGeom prst="arc">
            <a:avLst/>
          </a:prstGeom>
          <a:ln w="38100">
            <a:solidFill>
              <a:srgbClr val="D24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17720" y="2880360"/>
            <a:ext cx="224028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D24941"/>
                </a:solidFill>
                <a:latin typeface="Microsoft YaHei"/>
              </a:defRPr>
            </a:pPr>
            <a:r>
              <a:t>滞回能量 / 应变损伤参数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06640" y="1143000"/>
            <a:ext cx="3749039" cy="2011680"/>
          </a:xfrm>
          <a:prstGeom prst="roundRect">
            <a:avLst/>
          </a:prstGeom>
          <a:solidFill>
            <a:srgbClr val="FFF7F7"/>
          </a:solidFill>
          <a:ln w="12700">
            <a:solidFill>
              <a:srgbClr val="F2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 bIns="73152"/>
          <a:lstStyle/>
          <a:p>
            <a:pPr algn="ctr">
              <a:defRPr sz="1500" b="1">
                <a:solidFill>
                  <a:srgbClr val="D24941"/>
                </a:solidFill>
                <a:latin typeface="Microsoft YaHei"/>
              </a:defRPr>
            </a:pPr>
            <a:r>
              <a:t>论文关注的疲劳过程</a:t>
            </a:r>
          </a:p>
          <a:p>
            <a:pPr>
              <a:spcAft>
                <a:spcPts val="300"/>
              </a:spcAft>
              <a:defRPr sz="1320">
                <a:solidFill>
                  <a:srgbClr val="1E2328"/>
                </a:solidFill>
                <a:latin typeface="Microsoft YaHei"/>
              </a:defRPr>
            </a:pPr>
            <a:r>
              <a:t>• LCF 与启动—停车循环、热机械循环高度相关</a:t>
            </a:r>
          </a:p>
          <a:p>
            <a:pPr>
              <a:spcAft>
                <a:spcPts val="300"/>
              </a:spcAft>
              <a:defRPr sz="1320">
                <a:solidFill>
                  <a:srgbClr val="1E2328"/>
                </a:solidFill>
                <a:latin typeface="Microsoft YaHei"/>
              </a:defRPr>
            </a:pPr>
            <a:r>
              <a:t>• 裂纹萌生前损伤累积是寿命预测重点</a:t>
            </a:r>
          </a:p>
          <a:p>
            <a:pPr>
              <a:spcAft>
                <a:spcPts val="300"/>
              </a:spcAft>
              <a:defRPr sz="1320">
                <a:solidFill>
                  <a:srgbClr val="1E2328"/>
                </a:solidFill>
                <a:latin typeface="Microsoft YaHei"/>
              </a:defRPr>
            </a:pPr>
            <a:r>
              <a:t>• 失效物理模型把材料疲劳规律与结构响应连接起来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572000" y="5303520"/>
            <a:ext cx="2377440" cy="0"/>
          </a:xfrm>
          <a:prstGeom prst="line">
            <a:avLst/>
          </a:prstGeom>
          <a:ln w="1270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572000" y="4069080"/>
            <a:ext cx="0" cy="1234440"/>
          </a:xfrm>
          <a:prstGeom prst="line">
            <a:avLst/>
          </a:prstGeom>
          <a:ln w="1270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572000" y="4631438"/>
            <a:ext cx="216130" cy="240028"/>
          </a:xfrm>
          <a:prstGeom prst="line">
            <a:avLst/>
          </a:prstGeom>
          <a:ln w="27940">
            <a:solidFill>
              <a:srgbClr val="D249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788130" y="4631438"/>
            <a:ext cx="216131" cy="85141"/>
          </a:xfrm>
          <a:prstGeom prst="line">
            <a:avLst/>
          </a:prstGeom>
          <a:ln w="27940">
            <a:solidFill>
              <a:srgbClr val="D249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004261" y="4716579"/>
            <a:ext cx="216131" cy="160573"/>
          </a:xfrm>
          <a:prstGeom prst="line">
            <a:avLst/>
          </a:prstGeom>
          <a:ln w="27940">
            <a:solidFill>
              <a:srgbClr val="D249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5220392" y="4730055"/>
            <a:ext cx="216131" cy="147097"/>
          </a:xfrm>
          <a:prstGeom prst="line">
            <a:avLst/>
          </a:prstGeom>
          <a:ln w="27940">
            <a:solidFill>
              <a:srgbClr val="D249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5436523" y="4436154"/>
            <a:ext cx="216131" cy="293901"/>
          </a:xfrm>
          <a:prstGeom prst="line">
            <a:avLst/>
          </a:prstGeom>
          <a:ln w="27940">
            <a:solidFill>
              <a:srgbClr val="D249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5652654" y="4415867"/>
            <a:ext cx="216131" cy="20287"/>
          </a:xfrm>
          <a:prstGeom prst="line">
            <a:avLst/>
          </a:prstGeom>
          <a:ln w="27940">
            <a:solidFill>
              <a:srgbClr val="D249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5868785" y="4415867"/>
            <a:ext cx="216131" cy="189989"/>
          </a:xfrm>
          <a:prstGeom prst="line">
            <a:avLst/>
          </a:prstGeom>
          <a:ln w="27940">
            <a:solidFill>
              <a:srgbClr val="D249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6084916" y="4571012"/>
            <a:ext cx="216131" cy="34844"/>
          </a:xfrm>
          <a:prstGeom prst="line">
            <a:avLst/>
          </a:prstGeom>
          <a:ln w="27940">
            <a:solidFill>
              <a:srgbClr val="D249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6301047" y="4273734"/>
            <a:ext cx="216131" cy="297278"/>
          </a:xfrm>
          <a:prstGeom prst="line">
            <a:avLst/>
          </a:prstGeom>
          <a:ln w="27940">
            <a:solidFill>
              <a:srgbClr val="D249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6517178" y="4140411"/>
            <a:ext cx="216131" cy="133323"/>
          </a:xfrm>
          <a:prstGeom prst="line">
            <a:avLst/>
          </a:prstGeom>
          <a:ln w="27940">
            <a:solidFill>
              <a:srgbClr val="D249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6733309" y="4140411"/>
            <a:ext cx="216131" cy="167144"/>
          </a:xfrm>
          <a:prstGeom prst="line">
            <a:avLst/>
          </a:prstGeom>
          <a:ln w="27940">
            <a:solidFill>
              <a:srgbClr val="D249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4343400" y="5376672"/>
            <a:ext cx="274320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00" b="0">
                <a:solidFill>
                  <a:srgbClr val="667080"/>
                </a:solidFill>
                <a:latin typeface="Microsoft YaHei"/>
              </a:defRPr>
            </a:pPr>
            <a:r>
              <a:t>循环数增加 → 损伤累积 → 失效阈值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406640" y="3886200"/>
            <a:ext cx="3749039" cy="169164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 bIns="73152"/>
          <a:lstStyle/>
          <a:p>
            <a:pPr algn="ctr">
              <a:defRPr sz="1500" b="1">
                <a:solidFill>
                  <a:srgbClr val="192B49"/>
                </a:solidFill>
                <a:latin typeface="Microsoft YaHei"/>
              </a:defRPr>
            </a:pPr>
            <a:r>
              <a:t>可靠性表达</a:t>
            </a:r>
          </a:p>
          <a:p>
            <a:pPr>
              <a:spcAft>
                <a:spcPts val="300"/>
              </a:spcAft>
              <a:defRPr sz="1320">
                <a:solidFill>
                  <a:srgbClr val="1E2328"/>
                </a:solidFill>
                <a:latin typeface="Microsoft YaHei"/>
              </a:defRPr>
            </a:pPr>
            <a:r>
              <a:t>• 模型输出不应只有一个 Nf</a:t>
            </a:r>
          </a:p>
          <a:p>
            <a:pPr>
              <a:spcAft>
                <a:spcPts val="300"/>
              </a:spcAft>
              <a:defRPr sz="1320">
                <a:solidFill>
                  <a:srgbClr val="1E2328"/>
                </a:solidFill>
                <a:latin typeface="Microsoft YaHei"/>
              </a:defRPr>
            </a:pPr>
            <a:r>
              <a:t>• 应给出 Nf 的概率分布与置信区间</a:t>
            </a:r>
          </a:p>
          <a:p>
            <a:pPr>
              <a:spcAft>
                <a:spcPts val="300"/>
              </a:spcAft>
              <a:defRPr sz="1320">
                <a:solidFill>
                  <a:srgbClr val="1E2328"/>
                </a:solidFill>
                <a:latin typeface="Microsoft YaHei"/>
              </a:defRPr>
            </a:pPr>
            <a:r>
              <a:t>• 面向可靠性：R(n)=P(Nf&gt;n)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196A0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7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808C"/>
                </a:solidFill>
                <a:latin typeface="Microsoft YaHei"/>
              </a:defRPr>
            </a:pPr>
            <a:r>
              <a:t>论文讲解 | Reliability Engineering &amp; System Safety, 2016, 146: 1-12 | DOI: 10.1016/j.ress.2015.10.002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92B49"/>
                </a:solidFill>
                <a:latin typeface="Microsoft YaHei"/>
              </a:defRPr>
            </a:pPr>
            <a:r>
              <a:t>5  失效物理模型在框架中的角色</a:t>
            </a:r>
          </a:p>
          <a:p>
            <a:pPr>
              <a:defRPr sz="1200">
                <a:solidFill>
                  <a:srgbClr val="667080"/>
                </a:solidFill>
                <a:latin typeface="Microsoft YaHei"/>
              </a:defRPr>
            </a:pPr>
            <a:r>
              <a:t>PoF 是确定性核心，概率方法包在其外层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143000"/>
            <a:ext cx="2103120" cy="914400"/>
          </a:xfrm>
          <a:prstGeom prst="roundRect">
            <a:avLst/>
          </a:prstGeom>
          <a:solidFill>
            <a:srgbClr val="E6F1FF"/>
          </a:solidFill>
          <a:ln w="15240">
            <a:solidFill>
              <a:srgbClr val="297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92B49"/>
                </a:solidFill>
                <a:latin typeface="Microsoft YaHei"/>
              </a:defRPr>
            </a:pPr>
            <a:r>
              <a:t>材料参数</a:t>
            </a:r>
            <a:br/>
            <a:r>
              <a:t>疲劳强度、延性、散布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06040"/>
            <a:ext cx="2103120" cy="914400"/>
          </a:xfrm>
          <a:prstGeom prst="roundRect">
            <a:avLst/>
          </a:prstGeom>
          <a:solidFill>
            <a:srgbClr val="E6F1FF"/>
          </a:solidFill>
          <a:ln w="15240">
            <a:solidFill>
              <a:srgbClr val="297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92B49"/>
                </a:solidFill>
                <a:latin typeface="Microsoft YaHei"/>
              </a:defRPr>
            </a:pPr>
            <a:r>
              <a:t>结构响应</a:t>
            </a:r>
            <a:br/>
            <a:r>
              <a:t>应力、应变、温度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069080"/>
            <a:ext cx="2103120" cy="914400"/>
          </a:xfrm>
          <a:prstGeom prst="roundRect">
            <a:avLst/>
          </a:prstGeom>
          <a:solidFill>
            <a:srgbClr val="E6F1FF"/>
          </a:solidFill>
          <a:ln w="15240">
            <a:solidFill>
              <a:srgbClr val="297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92B49"/>
                </a:solidFill>
                <a:latin typeface="Microsoft YaHei"/>
              </a:defRPr>
            </a:pPr>
            <a:r>
              <a:t>任务谱</a:t>
            </a:r>
            <a:br/>
            <a:r>
              <a:t>循环幅值、载荷序列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2240280"/>
            <a:ext cx="3108960" cy="1508760"/>
          </a:xfrm>
          <a:prstGeom prst="roundRect">
            <a:avLst/>
          </a:prstGeom>
          <a:solidFill>
            <a:srgbClr val="FAEFFF"/>
          </a:solidFill>
          <a:ln w="15240">
            <a:solidFill>
              <a:srgbClr val="7C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92B49"/>
                </a:solidFill>
                <a:latin typeface="Microsoft YaHei"/>
              </a:defRPr>
            </a:pPr>
            <a:r>
              <a:t>低周疲劳寿命模型</a:t>
            </a:r>
            <a:br/>
            <a:r>
              <a:t>Nf = f(损伤参数, 材料参数)</a:t>
            </a:r>
            <a:br/>
            <a:r>
              <a:t>或 g(n)=Nf-n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240280"/>
            <a:ext cx="2926080" cy="1508760"/>
          </a:xfrm>
          <a:prstGeom prst="roundRect">
            <a:avLst/>
          </a:prstGeom>
          <a:solidFill>
            <a:srgbClr val="EBFAF8"/>
          </a:solidFill>
          <a:ln w="15240">
            <a:solidFill>
              <a:srgbClr val="25A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92B49"/>
                </a:solidFill>
                <a:latin typeface="Microsoft YaHei"/>
              </a:defRPr>
            </a:pPr>
            <a:r>
              <a:t>输出</a:t>
            </a:r>
            <a:br/>
            <a:r>
              <a:t>寿命样本、寿命分布、可靠度曲线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44368" y="1600200"/>
            <a:ext cx="1033271" cy="1399032"/>
          </a:xfrm>
          <a:prstGeom prst="line">
            <a:avLst/>
          </a:prstGeom>
          <a:ln w="2540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944368" y="2999232"/>
            <a:ext cx="1033271" cy="64008"/>
          </a:xfrm>
          <a:prstGeom prst="line">
            <a:avLst/>
          </a:prstGeom>
          <a:ln w="2540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944368" y="2999232"/>
            <a:ext cx="1033271" cy="1527048"/>
          </a:xfrm>
          <a:prstGeom prst="line">
            <a:avLst/>
          </a:prstGeom>
          <a:ln w="2540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223760" y="2999232"/>
            <a:ext cx="914400" cy="0"/>
          </a:xfrm>
          <a:prstGeom prst="line">
            <a:avLst/>
          </a:prstGeom>
          <a:ln w="2540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05840" y="5532120"/>
            <a:ext cx="100584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900" b="1">
                <a:solidFill>
                  <a:srgbClr val="192B49"/>
                </a:solidFill>
                <a:latin typeface="Microsoft YaHei"/>
              </a:defRPr>
            </a:pPr>
            <a:r>
              <a:t>论文贡献不在于抛弃疲劳物理，而是把物理模型嵌入可量化不确定性的可靠性框架。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196A0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E9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808C"/>
                </a:solidFill>
                <a:latin typeface="Microsoft YaHei"/>
              </a:defRPr>
            </a:pPr>
            <a:r>
              <a:t>论文讲解 | Reliability Engineering &amp; System Safety, 2016, 146: 1-12 | DOI: 10.1016/j.ress.2015.10.002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92B49"/>
                </a:solidFill>
                <a:latin typeface="Microsoft YaHei"/>
              </a:defRPr>
            </a:pPr>
            <a:r>
              <a:t>6  不确定性分类：论文框架的关键</a:t>
            </a:r>
          </a:p>
          <a:p>
            <a:pPr>
              <a:defRPr sz="1200">
                <a:solidFill>
                  <a:srgbClr val="667080"/>
                </a:solidFill>
                <a:latin typeface="Microsoft YaHei"/>
              </a:defRPr>
            </a:pPr>
            <a:r>
              <a:t>把“离散性”分清楚，才能知道如何减少它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1143000"/>
            <a:ext cx="1371600" cy="1371600"/>
          </a:xfrm>
          <a:prstGeom prst="ellipse">
            <a:avLst/>
          </a:prstGeom>
          <a:solidFill>
            <a:srgbClr val="FFF4E8"/>
          </a:solidFill>
          <a:ln w="16510">
            <a:solidFill>
              <a:srgbClr val="EE9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824B14"/>
                </a:solidFill>
                <a:latin typeface="Microsoft YaHei"/>
              </a:defRPr>
            </a:pPr>
            <a:r>
              <a:t>寿命预测</a:t>
            </a:r>
            <a:br/>
            <a:r>
              <a:t>不确定性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743200"/>
            <a:ext cx="297180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97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977C5"/>
                </a:solidFill>
                <a:latin typeface="Microsoft YaHei"/>
              </a:defRPr>
            </a:pPr>
            <a:r>
              <a:t>固有随机性</a:t>
            </a:r>
            <a:br/>
            <a:r>
              <a:t>Aleatory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474720"/>
            <a:ext cx="2971800" cy="16002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 bIns="73152"/>
          <a:lstStyle/>
          <a:p>
            <a:pPr algn="ctr">
              <a:spcAft>
                <a:spcPts val="300"/>
              </a:spcAft>
              <a:defRPr sz="1320">
                <a:solidFill>
                  <a:srgbClr val="1E2328"/>
                </a:solidFill>
                <a:latin typeface="Microsoft YaHei"/>
              </a:defRPr>
            </a:pPr>
            <a:r>
              <a:t>• 载荷/任务差异</a:t>
            </a:r>
          </a:p>
          <a:p>
            <a:pPr>
              <a:spcAft>
                <a:spcPts val="300"/>
              </a:spcAft>
              <a:defRPr sz="1320">
                <a:solidFill>
                  <a:srgbClr val="1E2328"/>
                </a:solidFill>
                <a:latin typeface="Microsoft YaHei"/>
              </a:defRPr>
            </a:pPr>
            <a:r>
              <a:t>• 材料性能天然散布</a:t>
            </a:r>
          </a:p>
          <a:p>
            <a:pPr>
              <a:spcAft>
                <a:spcPts val="300"/>
              </a:spcAft>
              <a:defRPr sz="1320">
                <a:solidFill>
                  <a:srgbClr val="1E2328"/>
                </a:solidFill>
                <a:latin typeface="Microsoft YaHei"/>
              </a:defRPr>
            </a:pPr>
            <a:r>
              <a:t>• 制造尺寸波动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258568" y="1965960"/>
            <a:ext cx="3685032" cy="731520"/>
          </a:xfrm>
          <a:prstGeom prst="line">
            <a:avLst/>
          </a:prstGeom>
          <a:ln w="19050">
            <a:solidFill>
              <a:srgbClr val="297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434840" y="2743200"/>
            <a:ext cx="297180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A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A4A5"/>
                </a:solidFill>
                <a:latin typeface="Microsoft YaHei"/>
              </a:defRPr>
            </a:pPr>
            <a:r>
              <a:t>统计不确定性</a:t>
            </a:r>
            <a:br/>
            <a:r>
              <a:t>Statistical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3474720"/>
            <a:ext cx="2971800" cy="16002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 bIns="73152"/>
          <a:lstStyle/>
          <a:p>
            <a:pPr algn="ctr">
              <a:spcAft>
                <a:spcPts val="300"/>
              </a:spcAft>
              <a:defRPr sz="1320">
                <a:solidFill>
                  <a:srgbClr val="1E2328"/>
                </a:solidFill>
                <a:latin typeface="Microsoft YaHei"/>
              </a:defRPr>
            </a:pPr>
            <a:r>
              <a:t>• 样本数量有限</a:t>
            </a:r>
          </a:p>
          <a:p>
            <a:pPr>
              <a:spcAft>
                <a:spcPts val="300"/>
              </a:spcAft>
              <a:defRPr sz="1320">
                <a:solidFill>
                  <a:srgbClr val="1E2328"/>
                </a:solidFill>
                <a:latin typeface="Microsoft YaHei"/>
              </a:defRPr>
            </a:pPr>
            <a:r>
              <a:t>• 测量误差</a:t>
            </a:r>
          </a:p>
          <a:p>
            <a:pPr>
              <a:spcAft>
                <a:spcPts val="300"/>
              </a:spcAft>
              <a:defRPr sz="1320">
                <a:solidFill>
                  <a:srgbClr val="1E2328"/>
                </a:solidFill>
                <a:latin typeface="Microsoft YaHei"/>
              </a:defRPr>
            </a:pPr>
            <a:r>
              <a:t>• 参数估计误差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5916168" y="1965960"/>
            <a:ext cx="27432" cy="731520"/>
          </a:xfrm>
          <a:prstGeom prst="line">
            <a:avLst/>
          </a:prstGeom>
          <a:ln w="19050">
            <a:solidFill>
              <a:srgbClr val="25A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092440" y="2743200"/>
            <a:ext cx="297180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4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24941"/>
                </a:solidFill>
                <a:latin typeface="Microsoft YaHei"/>
              </a:defRPr>
            </a:pPr>
            <a:r>
              <a:t>模型不确定性</a:t>
            </a:r>
            <a:br/>
            <a:r>
              <a:t>Model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3474720"/>
            <a:ext cx="2971800" cy="16002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 bIns="73152"/>
          <a:lstStyle/>
          <a:p>
            <a:pPr algn="ctr">
              <a:spcAft>
                <a:spcPts val="300"/>
              </a:spcAft>
              <a:defRPr sz="1320">
                <a:solidFill>
                  <a:srgbClr val="1E2328"/>
                </a:solidFill>
                <a:latin typeface="Microsoft YaHei"/>
              </a:defRPr>
            </a:pPr>
            <a:r>
              <a:t>• 疲劳模型简化</a:t>
            </a:r>
          </a:p>
          <a:p>
            <a:pPr>
              <a:spcAft>
                <a:spcPts val="300"/>
              </a:spcAft>
              <a:defRPr sz="1320">
                <a:solidFill>
                  <a:srgbClr val="1E2328"/>
                </a:solidFill>
                <a:latin typeface="Microsoft YaHei"/>
              </a:defRPr>
            </a:pPr>
            <a:r>
              <a:t>• 有限元近似</a:t>
            </a:r>
          </a:p>
          <a:p>
            <a:pPr>
              <a:spcAft>
                <a:spcPts val="300"/>
              </a:spcAft>
              <a:defRPr sz="1320">
                <a:solidFill>
                  <a:srgbClr val="1E2328"/>
                </a:solidFill>
                <a:latin typeface="Microsoft YaHei"/>
              </a:defRPr>
            </a:pPr>
            <a:r>
              <a:t>• 失效机理未完全描述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0" y="1965960"/>
            <a:ext cx="3630167" cy="731520"/>
          </a:xfrm>
          <a:prstGeom prst="line">
            <a:avLst/>
          </a:prstGeom>
          <a:ln w="19050">
            <a:solidFill>
              <a:srgbClr val="D249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4400" y="5669280"/>
            <a:ext cx="1033272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192B49"/>
                </a:solidFill>
                <a:latin typeface="Microsoft YaHei"/>
              </a:defRPr>
            </a:pPr>
            <a:r>
              <a:t>设计含义：有的靠质量控制降低，有的靠补充试验降低，有的靠改进模型降低。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196A0"/>
                </a:solidFill>
                <a:latin typeface="Microsoft YaHe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A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808C"/>
                </a:solidFill>
                <a:latin typeface="Microsoft YaHei"/>
              </a:defRPr>
            </a:pPr>
            <a:r>
              <a:t>论文讲解 | Reliability Engineering &amp; System Safety, 2016, 146: 1-12 | DOI: 10.1016/j.ress.2015.10.002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92B49"/>
                </a:solidFill>
                <a:latin typeface="Microsoft YaHei"/>
              </a:defRPr>
            </a:pPr>
            <a:r>
              <a:t>7  论文的 UQ 处理：乘性与加性误差</a:t>
            </a:r>
          </a:p>
          <a:p>
            <a:pPr>
              <a:defRPr sz="1200">
                <a:solidFill>
                  <a:srgbClr val="667080"/>
                </a:solidFill>
                <a:latin typeface="Microsoft YaHei"/>
              </a:defRPr>
            </a:pPr>
            <a:r>
              <a:t>用两类形式表达模型预测与真实寿命之间的差异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234440"/>
            <a:ext cx="4572000" cy="1508760"/>
          </a:xfrm>
          <a:prstGeom prst="roundRect">
            <a:avLst/>
          </a:prstGeom>
          <a:solidFill>
            <a:srgbClr val="EBFAF8"/>
          </a:solidFill>
          <a:ln w="15240">
            <a:solidFill>
              <a:srgbClr val="25A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92B49"/>
                </a:solidFill>
                <a:latin typeface="Microsoft YaHei"/>
              </a:defRPr>
            </a:pPr>
            <a:r>
              <a:t>乘性 UQ</a:t>
            </a:r>
            <a:br/>
            <a:r>
              <a:t>N真实 ≈ θ × N模型</a:t>
            </a:r>
            <a:br/>
            <a:r>
              <a:t>适合寿命数量级误差、比例偏差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234440"/>
            <a:ext cx="4572000" cy="1508760"/>
          </a:xfrm>
          <a:prstGeom prst="roundRect">
            <a:avLst/>
          </a:prstGeom>
          <a:solidFill>
            <a:srgbClr val="FFF4E8"/>
          </a:solidFill>
          <a:ln w="15240">
            <a:solidFill>
              <a:srgbClr val="EE9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92B49"/>
                </a:solidFill>
                <a:latin typeface="Microsoft YaHei"/>
              </a:defRPr>
            </a:pPr>
            <a:r>
              <a:t>加性 UQ</a:t>
            </a:r>
            <a:br/>
            <a:r>
              <a:t>N真实 ≈ N模型 + ε</a:t>
            </a:r>
            <a:br/>
            <a:r>
              <a:t>适合绝对误差或残差修正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25880" y="4709160"/>
            <a:ext cx="3383280" cy="0"/>
          </a:xfrm>
          <a:prstGeom prst="line">
            <a:avLst/>
          </a:prstGeom>
          <a:ln w="1270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325880" y="3657600"/>
            <a:ext cx="0" cy="1051560"/>
          </a:xfrm>
          <a:prstGeom prst="line">
            <a:avLst/>
          </a:prstGeom>
          <a:ln w="1270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325880" y="4707587"/>
            <a:ext cx="307570" cy="1480"/>
          </a:xfrm>
          <a:prstGeom prst="line">
            <a:avLst/>
          </a:prstGeom>
          <a:ln w="27940">
            <a:solidFill>
              <a:srgbClr val="25A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633450" y="4693135"/>
            <a:ext cx="307571" cy="14452"/>
          </a:xfrm>
          <a:prstGeom prst="line">
            <a:avLst/>
          </a:prstGeom>
          <a:ln w="27940">
            <a:solidFill>
              <a:srgbClr val="25A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941021" y="4611138"/>
            <a:ext cx="307571" cy="81997"/>
          </a:xfrm>
          <a:prstGeom prst="line">
            <a:avLst/>
          </a:prstGeom>
          <a:ln w="27940">
            <a:solidFill>
              <a:srgbClr val="25A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248592" y="4349171"/>
            <a:ext cx="307571" cy="261967"/>
          </a:xfrm>
          <a:prstGeom prst="line">
            <a:avLst/>
          </a:prstGeom>
          <a:ln w="27940">
            <a:solidFill>
              <a:srgbClr val="25A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556163" y="3915378"/>
            <a:ext cx="307571" cy="433793"/>
          </a:xfrm>
          <a:prstGeom prst="line">
            <a:avLst/>
          </a:prstGeom>
          <a:ln w="27940">
            <a:solidFill>
              <a:srgbClr val="25A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863734" y="3658270"/>
            <a:ext cx="307571" cy="257108"/>
          </a:xfrm>
          <a:prstGeom prst="line">
            <a:avLst/>
          </a:prstGeom>
          <a:ln w="27940">
            <a:solidFill>
              <a:srgbClr val="25A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71305" y="3658270"/>
            <a:ext cx="307571" cy="215562"/>
          </a:xfrm>
          <a:prstGeom prst="line">
            <a:avLst/>
          </a:prstGeom>
          <a:ln w="27940">
            <a:solidFill>
              <a:srgbClr val="25A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478876" y="3873832"/>
            <a:ext cx="307571" cy="436670"/>
          </a:xfrm>
          <a:prstGeom prst="line">
            <a:avLst/>
          </a:prstGeom>
          <a:ln w="27940">
            <a:solidFill>
              <a:srgbClr val="25A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786447" y="4310502"/>
            <a:ext cx="307571" cy="284426"/>
          </a:xfrm>
          <a:prstGeom prst="line">
            <a:avLst/>
          </a:prstGeom>
          <a:ln w="27940">
            <a:solidFill>
              <a:srgbClr val="25A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94018" y="4594928"/>
            <a:ext cx="307571" cy="94579"/>
          </a:xfrm>
          <a:prstGeom prst="line">
            <a:avLst/>
          </a:prstGeom>
          <a:ln w="27940">
            <a:solidFill>
              <a:srgbClr val="25A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401589" y="4689507"/>
            <a:ext cx="307571" cy="17623"/>
          </a:xfrm>
          <a:prstGeom prst="line">
            <a:avLst/>
          </a:prstGeom>
          <a:ln w="27940">
            <a:solidFill>
              <a:srgbClr val="25A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325880" y="4800600"/>
            <a:ext cx="3383280" cy="38404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0">
                <a:solidFill>
                  <a:srgbClr val="667080"/>
                </a:solidFill>
                <a:latin typeface="Microsoft YaHei"/>
              </a:defRPr>
            </a:pPr>
            <a:r>
              <a:t>比例缩放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40880" y="4709160"/>
            <a:ext cx="3383280" cy="0"/>
          </a:xfrm>
          <a:prstGeom prst="line">
            <a:avLst/>
          </a:prstGeom>
          <a:ln w="1270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040880" y="3657600"/>
            <a:ext cx="0" cy="1051560"/>
          </a:xfrm>
          <a:prstGeom prst="line">
            <a:avLst/>
          </a:prstGeom>
          <a:ln w="1270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040880" y="4707587"/>
            <a:ext cx="307570" cy="1480"/>
          </a:xfrm>
          <a:prstGeom prst="line">
            <a:avLst/>
          </a:prstGeom>
          <a:ln w="27940">
            <a:solidFill>
              <a:srgbClr val="EE90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348450" y="4693135"/>
            <a:ext cx="307571" cy="14452"/>
          </a:xfrm>
          <a:prstGeom prst="line">
            <a:avLst/>
          </a:prstGeom>
          <a:ln w="27940">
            <a:solidFill>
              <a:srgbClr val="EE90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656021" y="4611138"/>
            <a:ext cx="307571" cy="81997"/>
          </a:xfrm>
          <a:prstGeom prst="line">
            <a:avLst/>
          </a:prstGeom>
          <a:ln w="27940">
            <a:solidFill>
              <a:srgbClr val="EE90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963592" y="4349171"/>
            <a:ext cx="307571" cy="261967"/>
          </a:xfrm>
          <a:prstGeom prst="line">
            <a:avLst/>
          </a:prstGeom>
          <a:ln w="27940">
            <a:solidFill>
              <a:srgbClr val="EE90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271163" y="3915378"/>
            <a:ext cx="307571" cy="433793"/>
          </a:xfrm>
          <a:prstGeom prst="line">
            <a:avLst/>
          </a:prstGeom>
          <a:ln w="27940">
            <a:solidFill>
              <a:srgbClr val="EE90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578734" y="3658270"/>
            <a:ext cx="307571" cy="257108"/>
          </a:xfrm>
          <a:prstGeom prst="line">
            <a:avLst/>
          </a:prstGeom>
          <a:ln w="27940">
            <a:solidFill>
              <a:srgbClr val="EE90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886305" y="3658270"/>
            <a:ext cx="307571" cy="215562"/>
          </a:xfrm>
          <a:prstGeom prst="line">
            <a:avLst/>
          </a:prstGeom>
          <a:ln w="27940">
            <a:solidFill>
              <a:srgbClr val="EE90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193876" y="3873832"/>
            <a:ext cx="307571" cy="436670"/>
          </a:xfrm>
          <a:prstGeom prst="line">
            <a:avLst/>
          </a:prstGeom>
          <a:ln w="27940">
            <a:solidFill>
              <a:srgbClr val="EE90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501447" y="4310502"/>
            <a:ext cx="307571" cy="284426"/>
          </a:xfrm>
          <a:prstGeom prst="line">
            <a:avLst/>
          </a:prstGeom>
          <a:ln w="27940">
            <a:solidFill>
              <a:srgbClr val="EE90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809018" y="4594928"/>
            <a:ext cx="307571" cy="94579"/>
          </a:xfrm>
          <a:prstGeom prst="line">
            <a:avLst/>
          </a:prstGeom>
          <a:ln w="27940">
            <a:solidFill>
              <a:srgbClr val="EE90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0116589" y="4689507"/>
            <a:ext cx="307571" cy="17623"/>
          </a:xfrm>
          <a:prstGeom prst="line">
            <a:avLst/>
          </a:prstGeom>
          <a:ln w="27940">
            <a:solidFill>
              <a:srgbClr val="EE90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040880" y="4800600"/>
            <a:ext cx="3383280" cy="38404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0">
                <a:solidFill>
                  <a:srgbClr val="667080"/>
                </a:solidFill>
                <a:latin typeface="Microsoft YaHei"/>
              </a:defRPr>
            </a:pPr>
            <a:r>
              <a:t>残差平移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2971800"/>
            <a:ext cx="987552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192B49"/>
                </a:solidFill>
                <a:latin typeface="Microsoft YaHei"/>
              </a:defRPr>
            </a:pPr>
            <a:r>
              <a:t>目的：让预测区间既反映输入变量散布，也反映模型与实验之间的偏差。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196A0"/>
                </a:solidFill>
                <a:latin typeface="Microsoft YaHe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0A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808C"/>
                </a:solidFill>
                <a:latin typeface="Microsoft YaHei"/>
              </a:defRPr>
            </a:pPr>
            <a:r>
              <a:t>论文讲解 | Reliability Engineering &amp; System Safety, 2016, 146: 1-12 | DOI: 10.1016/j.ress.2015.10.002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92B49"/>
                </a:solidFill>
                <a:latin typeface="Microsoft YaHei"/>
              </a:defRPr>
            </a:pPr>
            <a:r>
              <a:t>8  概率计算流程：从变量分布到寿命分布</a:t>
            </a:r>
          </a:p>
          <a:p>
            <a:pPr>
              <a:defRPr sz="1200">
                <a:solidFill>
                  <a:srgbClr val="667080"/>
                </a:solidFill>
                <a:latin typeface="Microsoft YaHei"/>
              </a:defRPr>
            </a:pPr>
            <a:r>
              <a:t>面向可靠性设计的可执行流程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097280"/>
            <a:ext cx="502920" cy="502920"/>
          </a:xfrm>
          <a:prstGeom prst="ellipse">
            <a:avLst/>
          </a:prstGeom>
          <a:solidFill>
            <a:srgbClr val="2977C5"/>
          </a:solidFill>
          <a:ln w="16510">
            <a:solidFill>
              <a:srgbClr val="297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1051560"/>
            <a:ext cx="3931920" cy="658368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92B49"/>
                </a:solidFill>
                <a:latin typeface="Microsoft YaHei"/>
              </a:defRPr>
            </a:pPr>
            <a:r>
              <a:t>定义随机变量：载荷、材料、几何、模型因子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24128" y="1627631"/>
            <a:ext cx="0" cy="356617"/>
          </a:xfrm>
          <a:prstGeom prst="line">
            <a:avLst/>
          </a:prstGeom>
          <a:ln w="1524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25A4A5"/>
          </a:solidFill>
          <a:ln w="16510">
            <a:solidFill>
              <a:srgbClr val="25A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20" y="2011680"/>
            <a:ext cx="3931920" cy="658368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92B49"/>
                </a:solidFill>
                <a:latin typeface="Microsoft YaHei"/>
              </a:defRPr>
            </a:pPr>
            <a:r>
              <a:t>抽样/传播：Monte Carlo 或等效概率传播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24128" y="2587752"/>
            <a:ext cx="0" cy="356616"/>
          </a:xfrm>
          <a:prstGeom prst="line">
            <a:avLst/>
          </a:prstGeom>
          <a:ln w="1524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77240" y="3017520"/>
            <a:ext cx="502920" cy="502920"/>
          </a:xfrm>
          <a:prstGeom prst="ellipse">
            <a:avLst/>
          </a:prstGeom>
          <a:solidFill>
            <a:srgbClr val="7C5CB4"/>
          </a:solidFill>
          <a:ln w="16510">
            <a:solidFill>
              <a:srgbClr val="7C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17320" y="2971800"/>
            <a:ext cx="3931920" cy="658368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92B49"/>
                </a:solidFill>
                <a:latin typeface="Microsoft YaHei"/>
              </a:defRPr>
            </a:pPr>
            <a:r>
              <a:t>计算寿命：每组输入调用 PoF 寿命模型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24128" y="3547872"/>
            <a:ext cx="0" cy="356615"/>
          </a:xfrm>
          <a:prstGeom prst="line">
            <a:avLst/>
          </a:prstGeom>
          <a:ln w="1524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rgbClr val="EE9041"/>
          </a:solidFill>
          <a:ln w="16510">
            <a:solidFill>
              <a:srgbClr val="EE9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17320" y="3931920"/>
            <a:ext cx="3931920" cy="658368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92B49"/>
                </a:solidFill>
                <a:latin typeface="Microsoft YaHei"/>
              </a:defRPr>
            </a:pPr>
            <a:r>
              <a:t>统计输出：PDF/CDF、分位数、可靠度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24128" y="4507992"/>
            <a:ext cx="0" cy="356616"/>
          </a:xfrm>
          <a:prstGeom prst="line">
            <a:avLst/>
          </a:prstGeom>
          <a:ln w="1524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77240" y="4937759"/>
            <a:ext cx="502920" cy="502920"/>
          </a:xfrm>
          <a:prstGeom prst="ellipse">
            <a:avLst/>
          </a:prstGeom>
          <a:solidFill>
            <a:srgbClr val="50AA5F"/>
          </a:solidFill>
          <a:ln w="16510">
            <a:solidFill>
              <a:srgbClr val="50A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17320" y="4892040"/>
            <a:ext cx="3931920" cy="658368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92B49"/>
                </a:solidFill>
                <a:latin typeface="Microsoft YaHei"/>
              </a:defRPr>
            </a:pPr>
            <a:r>
              <a:t>敏感性排序：识别主导不确定性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0" y="2240280"/>
            <a:ext cx="4023360" cy="0"/>
          </a:xfrm>
          <a:prstGeom prst="line">
            <a:avLst/>
          </a:prstGeom>
          <a:ln w="1270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583680" y="1234440"/>
            <a:ext cx="0" cy="1005840"/>
          </a:xfrm>
          <a:prstGeom prst="line">
            <a:avLst/>
          </a:prstGeom>
          <a:ln w="1270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583680" y="2238775"/>
            <a:ext cx="365760" cy="1416"/>
          </a:xfrm>
          <a:prstGeom prst="line">
            <a:avLst/>
          </a:prstGeom>
          <a:ln w="27940">
            <a:solidFill>
              <a:srgbClr val="297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949440" y="2224951"/>
            <a:ext cx="365760" cy="13824"/>
          </a:xfrm>
          <a:prstGeom prst="line">
            <a:avLst/>
          </a:prstGeom>
          <a:ln w="27940">
            <a:solidFill>
              <a:srgbClr val="297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315200" y="2146520"/>
            <a:ext cx="365760" cy="78431"/>
          </a:xfrm>
          <a:prstGeom prst="line">
            <a:avLst/>
          </a:prstGeom>
          <a:ln w="27940">
            <a:solidFill>
              <a:srgbClr val="297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680960" y="1895942"/>
            <a:ext cx="365760" cy="250578"/>
          </a:xfrm>
          <a:prstGeom prst="line">
            <a:avLst/>
          </a:prstGeom>
          <a:ln w="27940">
            <a:solidFill>
              <a:srgbClr val="297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046720" y="1481010"/>
            <a:ext cx="365760" cy="414932"/>
          </a:xfrm>
          <a:prstGeom prst="line">
            <a:avLst/>
          </a:prstGeom>
          <a:ln w="27940">
            <a:solidFill>
              <a:srgbClr val="297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412480" y="1235081"/>
            <a:ext cx="365760" cy="245929"/>
          </a:xfrm>
          <a:prstGeom prst="line">
            <a:avLst/>
          </a:prstGeom>
          <a:ln w="27940">
            <a:solidFill>
              <a:srgbClr val="297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778240" y="1235081"/>
            <a:ext cx="365760" cy="206190"/>
          </a:xfrm>
          <a:prstGeom prst="line">
            <a:avLst/>
          </a:prstGeom>
          <a:ln w="27940">
            <a:solidFill>
              <a:srgbClr val="297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144000" y="1441271"/>
            <a:ext cx="365760" cy="417684"/>
          </a:xfrm>
          <a:prstGeom prst="line">
            <a:avLst/>
          </a:prstGeom>
          <a:ln w="27940">
            <a:solidFill>
              <a:srgbClr val="297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509760" y="1858955"/>
            <a:ext cx="365760" cy="272059"/>
          </a:xfrm>
          <a:prstGeom prst="line">
            <a:avLst/>
          </a:prstGeom>
          <a:ln w="27940">
            <a:solidFill>
              <a:srgbClr val="297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875520" y="2131014"/>
            <a:ext cx="365760" cy="90467"/>
          </a:xfrm>
          <a:prstGeom prst="line">
            <a:avLst/>
          </a:prstGeom>
          <a:ln w="27940">
            <a:solidFill>
              <a:srgbClr val="297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241280" y="2221481"/>
            <a:ext cx="365760" cy="16857"/>
          </a:xfrm>
          <a:prstGeom prst="line">
            <a:avLst/>
          </a:prstGeom>
          <a:ln w="27940">
            <a:solidFill>
              <a:srgbClr val="297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583680" y="2331720"/>
            <a:ext cx="402336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0">
                <a:solidFill>
                  <a:srgbClr val="667080"/>
                </a:solidFill>
                <a:latin typeface="Microsoft YaHei"/>
              </a:defRPr>
            </a:pPr>
            <a:r>
              <a:t>输入变量分布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95360" y="2788920"/>
            <a:ext cx="0" cy="548640"/>
          </a:xfrm>
          <a:prstGeom prst="line">
            <a:avLst/>
          </a:prstGeom>
          <a:ln w="2540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406640" y="3429000"/>
            <a:ext cx="2423160" cy="731520"/>
          </a:xfrm>
          <a:prstGeom prst="roundRect">
            <a:avLst/>
          </a:prstGeom>
          <a:solidFill>
            <a:srgbClr val="FAEFFF"/>
          </a:solidFill>
          <a:ln w="15240">
            <a:solidFill>
              <a:srgbClr val="7C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7C5CB4"/>
                </a:solidFill>
                <a:latin typeface="Microsoft YaHei"/>
              </a:defRPr>
            </a:pPr>
            <a:r>
              <a:t>PoF 寿命模型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595360" y="4224528"/>
            <a:ext cx="0" cy="502920"/>
          </a:xfrm>
          <a:prstGeom prst="line">
            <a:avLst/>
          </a:prstGeom>
          <a:ln w="2540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583680" y="5715000"/>
            <a:ext cx="4023360" cy="0"/>
          </a:xfrm>
          <a:prstGeom prst="line">
            <a:avLst/>
          </a:prstGeom>
          <a:ln w="1270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6583680" y="4800600"/>
            <a:ext cx="0" cy="914400"/>
          </a:xfrm>
          <a:prstGeom prst="line">
            <a:avLst/>
          </a:prstGeom>
          <a:ln w="1270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583680" y="4800600"/>
            <a:ext cx="365760" cy="144154"/>
          </a:xfrm>
          <a:prstGeom prst="line">
            <a:avLst/>
          </a:prstGeom>
          <a:ln w="27940">
            <a:solidFill>
              <a:srgbClr val="50A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949440" y="4944754"/>
            <a:ext cx="365760" cy="133060"/>
          </a:xfrm>
          <a:prstGeom prst="line">
            <a:avLst/>
          </a:prstGeom>
          <a:ln w="27940">
            <a:solidFill>
              <a:srgbClr val="50A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315200" y="5077814"/>
            <a:ext cx="365760" cy="121730"/>
          </a:xfrm>
          <a:prstGeom prst="line">
            <a:avLst/>
          </a:prstGeom>
          <a:ln w="27940">
            <a:solidFill>
              <a:srgbClr val="50A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680960" y="5199544"/>
            <a:ext cx="365760" cy="110128"/>
          </a:xfrm>
          <a:prstGeom prst="line">
            <a:avLst/>
          </a:prstGeom>
          <a:ln w="27940">
            <a:solidFill>
              <a:srgbClr val="50A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046720" y="5309672"/>
            <a:ext cx="365760" cy="98212"/>
          </a:xfrm>
          <a:prstGeom prst="line">
            <a:avLst/>
          </a:prstGeom>
          <a:ln w="27940">
            <a:solidFill>
              <a:srgbClr val="50A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412480" y="5407884"/>
            <a:ext cx="365760" cy="85920"/>
          </a:xfrm>
          <a:prstGeom prst="line">
            <a:avLst/>
          </a:prstGeom>
          <a:ln w="27940">
            <a:solidFill>
              <a:srgbClr val="50A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778240" y="5493804"/>
            <a:ext cx="365760" cy="73170"/>
          </a:xfrm>
          <a:prstGeom prst="line">
            <a:avLst/>
          </a:prstGeom>
          <a:ln w="27940">
            <a:solidFill>
              <a:srgbClr val="50A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144000" y="5566974"/>
            <a:ext cx="365760" cy="59830"/>
          </a:xfrm>
          <a:prstGeom prst="line">
            <a:avLst/>
          </a:prstGeom>
          <a:ln w="27940">
            <a:solidFill>
              <a:srgbClr val="50A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509760" y="5626804"/>
            <a:ext cx="365760" cy="45686"/>
          </a:xfrm>
          <a:prstGeom prst="line">
            <a:avLst/>
          </a:prstGeom>
          <a:ln w="27940">
            <a:solidFill>
              <a:srgbClr val="50A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5672490"/>
            <a:ext cx="365760" cy="30302"/>
          </a:xfrm>
          <a:prstGeom prst="line">
            <a:avLst/>
          </a:prstGeom>
          <a:ln w="27940">
            <a:solidFill>
              <a:srgbClr val="50A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241280" y="5702792"/>
            <a:ext cx="365760" cy="12208"/>
          </a:xfrm>
          <a:prstGeom prst="line">
            <a:avLst/>
          </a:prstGeom>
          <a:ln w="27940">
            <a:solidFill>
              <a:srgbClr val="50A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583680" y="5806440"/>
            <a:ext cx="402336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0">
                <a:solidFill>
                  <a:srgbClr val="667080"/>
                </a:solidFill>
                <a:latin typeface="Microsoft YaHei"/>
              </a:defRPr>
            </a:pPr>
            <a:r>
              <a:t>可靠度 R(n) 随循环数下降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196A0"/>
                </a:solidFill>
                <a:latin typeface="Microsoft YaHe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7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808C"/>
                </a:solidFill>
                <a:latin typeface="Microsoft YaHei"/>
              </a:defRPr>
            </a:pPr>
            <a:r>
              <a:t>论文讲解 | Reliability Engineering &amp; System Safety, 2016, 146: 1-12 | DOI: 10.1016/j.ress.2015.10.002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92B49"/>
                </a:solidFill>
                <a:latin typeface="Microsoft YaHei"/>
              </a:defRPr>
            </a:pPr>
            <a:r>
              <a:t>9  输出如何读：寿命分布、可靠度与分位寿命</a:t>
            </a:r>
          </a:p>
          <a:p>
            <a:pPr>
              <a:defRPr sz="1200">
                <a:solidFill>
                  <a:srgbClr val="667080"/>
                </a:solidFill>
                <a:latin typeface="Microsoft YaHei"/>
              </a:defRPr>
            </a:pPr>
            <a:r>
              <a:t>从“一个寿命值”变为“可靠性指标族”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2651760"/>
            <a:ext cx="2834640" cy="0"/>
          </a:xfrm>
          <a:prstGeom prst="line">
            <a:avLst/>
          </a:prstGeom>
          <a:ln w="1270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822960" y="1234440"/>
            <a:ext cx="0" cy="1417320"/>
          </a:xfrm>
          <a:prstGeom prst="line">
            <a:avLst/>
          </a:prstGeom>
          <a:ln w="1270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822960" y="2649639"/>
            <a:ext cx="257694" cy="1996"/>
          </a:xfrm>
          <a:prstGeom prst="line">
            <a:avLst/>
          </a:prstGeom>
          <a:ln w="27940">
            <a:solidFill>
              <a:srgbClr val="297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80654" y="2630161"/>
            <a:ext cx="257695" cy="19478"/>
          </a:xfrm>
          <a:prstGeom prst="line">
            <a:avLst/>
          </a:prstGeom>
          <a:ln w="27940">
            <a:solidFill>
              <a:srgbClr val="297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338349" y="2519644"/>
            <a:ext cx="257694" cy="110517"/>
          </a:xfrm>
          <a:prstGeom prst="line">
            <a:avLst/>
          </a:prstGeom>
          <a:ln w="27940">
            <a:solidFill>
              <a:srgbClr val="297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596043" y="2166557"/>
            <a:ext cx="257695" cy="353087"/>
          </a:xfrm>
          <a:prstGeom prst="line">
            <a:avLst/>
          </a:prstGeom>
          <a:ln w="27940">
            <a:solidFill>
              <a:srgbClr val="297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853738" y="1581880"/>
            <a:ext cx="257694" cy="584677"/>
          </a:xfrm>
          <a:prstGeom prst="line">
            <a:avLst/>
          </a:prstGeom>
          <a:ln w="27940">
            <a:solidFill>
              <a:srgbClr val="297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111432" y="1235343"/>
            <a:ext cx="257695" cy="346537"/>
          </a:xfrm>
          <a:prstGeom prst="line">
            <a:avLst/>
          </a:prstGeom>
          <a:ln w="27940">
            <a:solidFill>
              <a:srgbClr val="297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369127" y="1235343"/>
            <a:ext cx="257694" cy="290540"/>
          </a:xfrm>
          <a:prstGeom prst="line">
            <a:avLst/>
          </a:prstGeom>
          <a:ln w="27940">
            <a:solidFill>
              <a:srgbClr val="297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626821" y="1525883"/>
            <a:ext cx="257695" cy="588555"/>
          </a:xfrm>
          <a:prstGeom prst="line">
            <a:avLst/>
          </a:prstGeom>
          <a:ln w="27940">
            <a:solidFill>
              <a:srgbClr val="297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884516" y="2114438"/>
            <a:ext cx="257694" cy="383357"/>
          </a:xfrm>
          <a:prstGeom prst="line">
            <a:avLst/>
          </a:prstGeom>
          <a:ln w="27940">
            <a:solidFill>
              <a:srgbClr val="297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142210" y="2497795"/>
            <a:ext cx="257695" cy="127476"/>
          </a:xfrm>
          <a:prstGeom prst="line">
            <a:avLst/>
          </a:prstGeom>
          <a:ln w="27940">
            <a:solidFill>
              <a:srgbClr val="297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399905" y="2625271"/>
            <a:ext cx="257695" cy="23752"/>
          </a:xfrm>
          <a:prstGeom prst="line">
            <a:avLst/>
          </a:prstGeom>
          <a:ln w="27940">
            <a:solidFill>
              <a:srgbClr val="297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2960" y="2761488"/>
            <a:ext cx="283464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0">
                <a:solidFill>
                  <a:srgbClr val="667080"/>
                </a:solidFill>
                <a:latin typeface="Microsoft YaHei"/>
              </a:defRPr>
            </a:pPr>
            <a:r>
              <a:t>寿命概率密度</a:t>
            </a:r>
            <a:br/>
            <a:r>
              <a:t>峰值≈最可能寿命，左尾≈早期失效风险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663440" y="2651760"/>
            <a:ext cx="2834639" cy="0"/>
          </a:xfrm>
          <a:prstGeom prst="line">
            <a:avLst/>
          </a:prstGeom>
          <a:ln w="1270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4663440" y="1234440"/>
            <a:ext cx="0" cy="1417320"/>
          </a:xfrm>
          <a:prstGeom prst="line">
            <a:avLst/>
          </a:prstGeom>
          <a:ln w="1270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63440" y="1234440"/>
            <a:ext cx="257694" cy="223438"/>
          </a:xfrm>
          <a:prstGeom prst="line">
            <a:avLst/>
          </a:prstGeom>
          <a:ln w="27940">
            <a:solidFill>
              <a:srgbClr val="50A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921134" y="1457878"/>
            <a:ext cx="257695" cy="206244"/>
          </a:xfrm>
          <a:prstGeom prst="line">
            <a:avLst/>
          </a:prstGeom>
          <a:ln w="27940">
            <a:solidFill>
              <a:srgbClr val="50A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178829" y="1664122"/>
            <a:ext cx="257694" cy="188681"/>
          </a:xfrm>
          <a:prstGeom prst="line">
            <a:avLst/>
          </a:prstGeom>
          <a:ln w="27940">
            <a:solidFill>
              <a:srgbClr val="50A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436523" y="1852803"/>
            <a:ext cx="257695" cy="170699"/>
          </a:xfrm>
          <a:prstGeom prst="line">
            <a:avLst/>
          </a:prstGeom>
          <a:ln w="27940">
            <a:solidFill>
              <a:srgbClr val="50A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694218" y="2023502"/>
            <a:ext cx="257694" cy="152229"/>
          </a:xfrm>
          <a:prstGeom prst="line">
            <a:avLst/>
          </a:prstGeom>
          <a:ln w="27940">
            <a:solidFill>
              <a:srgbClr val="50A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951912" y="2175731"/>
            <a:ext cx="257695" cy="133176"/>
          </a:xfrm>
          <a:prstGeom prst="line">
            <a:avLst/>
          </a:prstGeom>
          <a:ln w="27940">
            <a:solidFill>
              <a:srgbClr val="50A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209607" y="2308907"/>
            <a:ext cx="257694" cy="113413"/>
          </a:xfrm>
          <a:prstGeom prst="line">
            <a:avLst/>
          </a:prstGeom>
          <a:ln w="27940">
            <a:solidFill>
              <a:srgbClr val="50A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467301" y="2422320"/>
            <a:ext cx="257695" cy="92736"/>
          </a:xfrm>
          <a:prstGeom prst="line">
            <a:avLst/>
          </a:prstGeom>
          <a:ln w="27940">
            <a:solidFill>
              <a:srgbClr val="50A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724996" y="2515056"/>
            <a:ext cx="257694" cy="70814"/>
          </a:xfrm>
          <a:prstGeom prst="line">
            <a:avLst/>
          </a:prstGeom>
          <a:ln w="27940">
            <a:solidFill>
              <a:srgbClr val="50A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982690" y="2585870"/>
            <a:ext cx="257695" cy="46968"/>
          </a:xfrm>
          <a:prstGeom prst="line">
            <a:avLst/>
          </a:prstGeom>
          <a:ln w="27940">
            <a:solidFill>
              <a:srgbClr val="50A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240385" y="2632838"/>
            <a:ext cx="257694" cy="18922"/>
          </a:xfrm>
          <a:prstGeom prst="line">
            <a:avLst/>
          </a:prstGeom>
          <a:ln w="27940">
            <a:solidFill>
              <a:srgbClr val="50A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663440" y="2761488"/>
            <a:ext cx="283464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0">
                <a:solidFill>
                  <a:srgbClr val="667080"/>
                </a:solidFill>
                <a:latin typeface="Microsoft YaHei"/>
              </a:defRPr>
            </a:pPr>
            <a:r>
              <a:t>可靠度曲线 R(n)</a:t>
            </a:r>
            <a:br/>
            <a:r>
              <a:t>给定任务循环 n 下的存活概率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1600200"/>
            <a:ext cx="2560320" cy="320040"/>
          </a:xfrm>
          <a:prstGeom prst="rect">
            <a:avLst/>
          </a:prstGeom>
          <a:solidFill>
            <a:srgbClr val="DCE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8549640" y="1417320"/>
            <a:ext cx="0" cy="640080"/>
          </a:xfrm>
          <a:prstGeom prst="line">
            <a:avLst/>
          </a:prstGeom>
          <a:ln w="25400">
            <a:solidFill>
              <a:srgbClr val="D249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321040" y="2148840"/>
            <a:ext cx="77724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900" b="1">
                <a:solidFill>
                  <a:srgbClr val="D24941"/>
                </a:solidFill>
                <a:latin typeface="Microsoft YaHei"/>
              </a:defRPr>
            </a:pPr>
            <a:r>
              <a:t>5%寿命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509760" y="1417320"/>
            <a:ext cx="0" cy="640080"/>
          </a:xfrm>
          <a:prstGeom prst="line">
            <a:avLst/>
          </a:prstGeom>
          <a:ln w="25400">
            <a:solidFill>
              <a:srgbClr val="297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281160" y="2148840"/>
            <a:ext cx="77724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900" b="1">
                <a:solidFill>
                  <a:srgbClr val="2977C5"/>
                </a:solidFill>
                <a:latin typeface="Microsoft YaHei"/>
              </a:defRPr>
            </a:pPr>
            <a:r>
              <a:t>50%寿命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378440" y="1417320"/>
            <a:ext cx="0" cy="640080"/>
          </a:xfrm>
          <a:prstGeom prst="line">
            <a:avLst/>
          </a:prstGeom>
          <a:ln w="25400">
            <a:solidFill>
              <a:srgbClr val="50A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0149840" y="2148840"/>
            <a:ext cx="77724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900" b="1">
                <a:solidFill>
                  <a:srgbClr val="50AA5F"/>
                </a:solidFill>
                <a:latin typeface="Microsoft YaHei"/>
              </a:defRPr>
            </a:pPr>
            <a:r>
              <a:t>95%寿命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2761488"/>
            <a:ext cx="278892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0">
                <a:solidFill>
                  <a:srgbClr val="667080"/>
                </a:solidFill>
                <a:latin typeface="Microsoft YaHei"/>
              </a:defRPr>
            </a:pPr>
            <a:r>
              <a:t>分位寿命</a:t>
            </a:r>
            <a:br/>
            <a:r>
              <a:t>用于保守寿命定限与设计裕度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05840" y="3977639"/>
            <a:ext cx="10058400" cy="132588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 bIns="73152"/>
          <a:lstStyle/>
          <a:p>
            <a:pPr algn="ctr">
              <a:defRPr sz="1500" b="1">
                <a:solidFill>
                  <a:srgbClr val="192B49"/>
                </a:solidFill>
                <a:latin typeface="Microsoft YaHei"/>
              </a:defRPr>
            </a:pPr>
            <a:r>
              <a:t>读图重点</a:t>
            </a:r>
          </a:p>
          <a:p>
            <a:pPr>
              <a:spcAft>
                <a:spcPts val="300"/>
              </a:spcAft>
              <a:defRPr sz="1320">
                <a:solidFill>
                  <a:srgbClr val="1E2328"/>
                </a:solidFill>
                <a:latin typeface="Microsoft YaHei"/>
              </a:defRPr>
            </a:pPr>
            <a:r>
              <a:t>• 如果要求失效概率 Pf &lt; 目标值，可在可靠度曲线上寻找允许循环数。</a:t>
            </a:r>
          </a:p>
          <a:p>
            <a:pPr>
              <a:spcAft>
                <a:spcPts val="300"/>
              </a:spcAft>
              <a:defRPr sz="1320">
                <a:solidFill>
                  <a:srgbClr val="1E2328"/>
                </a:solidFill>
                <a:latin typeface="Microsoft YaHei"/>
              </a:defRPr>
            </a:pPr>
            <a:r>
              <a:t>• 相比平均寿命，低分位寿命更能服务安全关键部件设计。</a:t>
            </a:r>
          </a:p>
          <a:p>
            <a:pPr>
              <a:spcAft>
                <a:spcPts val="300"/>
              </a:spcAft>
              <a:defRPr sz="1320">
                <a:solidFill>
                  <a:srgbClr val="1E2328"/>
                </a:solidFill>
                <a:latin typeface="Microsoft YaHei"/>
              </a:defRPr>
            </a:pPr>
            <a:r>
              <a:t>• 敏感性结果告诉工程师：优先控制载荷、材料参数，还是改进模型。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196A0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808C"/>
                </a:solidFill>
                <a:latin typeface="Microsoft YaHei"/>
              </a:defRPr>
            </a:pPr>
            <a:r>
              <a:t>论文讲解 | Reliability Engineering &amp; System Safety, 2016, 146: 1-12 | DOI: 10.1016/j.ress.2015.10.002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92B49"/>
                </a:solidFill>
                <a:latin typeface="Microsoft YaHei"/>
              </a:defRPr>
            </a:pPr>
            <a:r>
              <a:t>10  敏感性分析：哪类不确定性最“花钱”</a:t>
            </a:r>
          </a:p>
          <a:p>
            <a:pPr>
              <a:defRPr sz="1200">
                <a:solidFill>
                  <a:srgbClr val="667080"/>
                </a:solidFill>
                <a:latin typeface="Microsoft YaHei"/>
              </a:defRPr>
            </a:pPr>
            <a:r>
              <a:t>论文用贡献度识别降低不确定性的优先级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1828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1">
                <a:solidFill>
                  <a:srgbClr val="192B49"/>
                </a:solidFill>
                <a:latin typeface="Microsoft YaHei"/>
              </a:defRPr>
            </a:pPr>
            <a:r>
              <a:t>载荷/任务谱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143000"/>
            <a:ext cx="5120640" cy="256032"/>
          </a:xfrm>
          <a:prstGeom prst="rect">
            <a:avLst/>
          </a:prstGeom>
          <a:solidFill>
            <a:srgbClr val="E6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0" y="1143000"/>
            <a:ext cx="4403750" cy="256032"/>
          </a:xfrm>
          <a:prstGeom prst="rect">
            <a:avLst/>
          </a:prstGeom>
          <a:solidFill>
            <a:srgbClr val="EE9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1115568"/>
            <a:ext cx="59436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100" b="1">
                <a:solidFill>
                  <a:srgbClr val="EE9041"/>
                </a:solidFill>
                <a:latin typeface="Microsoft YaHei"/>
              </a:defRPr>
            </a:pPr>
            <a:r>
              <a:t>86%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92807"/>
            <a:ext cx="1828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1">
                <a:solidFill>
                  <a:srgbClr val="192B49"/>
                </a:solidFill>
                <a:latin typeface="Microsoft YaHei"/>
              </a:defRPr>
            </a:pPr>
            <a:r>
              <a:t>材料疲劳参数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1892807"/>
            <a:ext cx="5120640" cy="256032"/>
          </a:xfrm>
          <a:prstGeom prst="rect">
            <a:avLst/>
          </a:prstGeom>
          <a:solidFill>
            <a:srgbClr val="E6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0" y="1892807"/>
            <a:ext cx="3686860" cy="256032"/>
          </a:xfrm>
          <a:prstGeom prst="rect">
            <a:avLst/>
          </a:prstGeom>
          <a:solidFill>
            <a:srgbClr val="297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1865376"/>
            <a:ext cx="59436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100" b="1">
                <a:solidFill>
                  <a:srgbClr val="2977C5"/>
                </a:solidFill>
                <a:latin typeface="Microsoft YaHei"/>
              </a:defRPr>
            </a:pPr>
            <a:r>
              <a:t>72%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642615"/>
            <a:ext cx="1828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1">
                <a:solidFill>
                  <a:srgbClr val="192B49"/>
                </a:solidFill>
                <a:latin typeface="Microsoft YaHei"/>
              </a:defRPr>
            </a:pPr>
            <a:r>
              <a:t>模型误差因子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2642615"/>
            <a:ext cx="5120640" cy="256032"/>
          </a:xfrm>
          <a:prstGeom prst="rect">
            <a:avLst/>
          </a:prstGeom>
          <a:solidFill>
            <a:srgbClr val="E6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0" y="2642615"/>
            <a:ext cx="2969971" cy="256032"/>
          </a:xfrm>
          <a:prstGeom prst="rect">
            <a:avLst/>
          </a:prstGeom>
          <a:solidFill>
            <a:srgbClr val="D24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2615184"/>
            <a:ext cx="59436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100" b="1">
                <a:solidFill>
                  <a:srgbClr val="D24941"/>
                </a:solidFill>
                <a:latin typeface="Microsoft YaHei"/>
              </a:defRPr>
            </a:pPr>
            <a:r>
              <a:t>57%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392424"/>
            <a:ext cx="1828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1">
                <a:solidFill>
                  <a:srgbClr val="192B49"/>
                </a:solidFill>
                <a:latin typeface="Microsoft YaHei"/>
              </a:defRPr>
            </a:pPr>
            <a:r>
              <a:t>几何/制造偏差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3392424"/>
            <a:ext cx="5120640" cy="256032"/>
          </a:xfrm>
          <a:prstGeom prst="rect">
            <a:avLst/>
          </a:prstGeom>
          <a:solidFill>
            <a:srgbClr val="E6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3392424"/>
            <a:ext cx="1843430" cy="256032"/>
          </a:xfrm>
          <a:prstGeom prst="rect">
            <a:avLst/>
          </a:prstGeom>
          <a:solidFill>
            <a:srgbClr val="25A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0" y="3364992"/>
            <a:ext cx="59436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100" b="1">
                <a:solidFill>
                  <a:srgbClr val="25A4A5"/>
                </a:solidFill>
                <a:latin typeface="Microsoft YaHei"/>
              </a:defRPr>
            </a:pPr>
            <a:r>
              <a:t>36%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142231"/>
            <a:ext cx="1828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1">
                <a:solidFill>
                  <a:srgbClr val="192B49"/>
                </a:solidFill>
                <a:latin typeface="Microsoft YaHei"/>
              </a:defRPr>
            </a:pPr>
            <a:r>
              <a:t>测量误差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142231"/>
            <a:ext cx="5120640" cy="256032"/>
          </a:xfrm>
          <a:prstGeom prst="rect">
            <a:avLst/>
          </a:prstGeom>
          <a:solidFill>
            <a:srgbClr val="E6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0" y="4142231"/>
            <a:ext cx="1126540" cy="256032"/>
          </a:xfrm>
          <a:prstGeom prst="rect">
            <a:avLst/>
          </a:prstGeom>
          <a:solidFill>
            <a:srgbClr val="667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1000" y="4114799"/>
            <a:ext cx="59436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100" b="1">
                <a:solidFill>
                  <a:srgbClr val="667080"/>
                </a:solidFill>
                <a:latin typeface="Microsoft YaHei"/>
              </a:defRPr>
            </a:pPr>
            <a:r>
              <a:t>22%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23960" y="1143000"/>
            <a:ext cx="2514600" cy="347472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 bIns="73152"/>
          <a:lstStyle/>
          <a:p>
            <a:pPr algn="ctr">
              <a:defRPr sz="1500" b="1">
                <a:solidFill>
                  <a:srgbClr val="192B49"/>
                </a:solidFill>
                <a:latin typeface="Microsoft YaHei"/>
              </a:defRPr>
            </a:pPr>
            <a:r>
              <a:t>工程意义</a:t>
            </a:r>
          </a:p>
          <a:p>
            <a:pPr>
              <a:spcAft>
                <a:spcPts val="300"/>
              </a:spcAft>
              <a:defRPr sz="1320">
                <a:solidFill>
                  <a:srgbClr val="1E2328"/>
                </a:solidFill>
                <a:latin typeface="Microsoft YaHei"/>
              </a:defRPr>
            </a:pPr>
            <a:r>
              <a:t>• 高贡献变量：继续试验/监测最有价值</a:t>
            </a:r>
          </a:p>
          <a:p>
            <a:pPr>
              <a:spcAft>
                <a:spcPts val="300"/>
              </a:spcAft>
              <a:defRPr sz="1320">
                <a:solidFill>
                  <a:srgbClr val="1E2328"/>
                </a:solidFill>
                <a:latin typeface="Microsoft YaHei"/>
              </a:defRPr>
            </a:pPr>
            <a:r>
              <a:t>• 低贡献变量：无需过度投入</a:t>
            </a:r>
          </a:p>
          <a:p>
            <a:pPr>
              <a:spcAft>
                <a:spcPts val="300"/>
              </a:spcAft>
              <a:defRPr sz="1320">
                <a:solidFill>
                  <a:srgbClr val="1E2328"/>
                </a:solidFill>
                <a:latin typeface="Microsoft YaHei"/>
              </a:defRPr>
            </a:pPr>
            <a:r>
              <a:t>• 可靠性设计可把资源用在主导因素上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532120"/>
            <a:ext cx="1042416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0">
                <a:solidFill>
                  <a:srgbClr val="667080"/>
                </a:solidFill>
                <a:latin typeface="Microsoft YaHei"/>
              </a:defRPr>
            </a:pPr>
            <a:r>
              <a:t>注意：上图为讲解示意，表达论文的敏感性思想；具体贡献度取决于论文案例数据与模型设定。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196A0"/>
                </a:solidFill>
                <a:latin typeface="Microsoft Ya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0A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808C"/>
                </a:solidFill>
                <a:latin typeface="Microsoft YaHei"/>
              </a:defRPr>
            </a:pPr>
            <a:r>
              <a:t>论文讲解 | Reliability Engineering &amp; System Safety, 2016, 146: 1-12 | DOI: 10.1016/j.ress.2015.10.002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92B49"/>
                </a:solidFill>
                <a:latin typeface="Microsoft YaHei"/>
              </a:defRPr>
            </a:pPr>
            <a:r>
              <a:t>11  实验验证：从材料试样到全尺寸涡轮盘</a:t>
            </a:r>
          </a:p>
          <a:p>
            <a:pPr>
              <a:defRPr sz="1200">
                <a:solidFill>
                  <a:srgbClr val="667080"/>
                </a:solidFill>
                <a:latin typeface="Microsoft YaHei"/>
              </a:defRPr>
            </a:pPr>
            <a:r>
              <a:t>验证概率框架能否覆盖真实疲劳寿命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143000"/>
            <a:ext cx="2834640" cy="914400"/>
          </a:xfrm>
          <a:prstGeom prst="roundRect">
            <a:avLst/>
          </a:prstGeom>
          <a:solidFill>
            <a:srgbClr val="E6F1FF"/>
          </a:solidFill>
          <a:ln w="15240">
            <a:solidFill>
              <a:srgbClr val="297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92B49"/>
                </a:solidFill>
                <a:latin typeface="Microsoft YaHei"/>
              </a:defRPr>
            </a:pPr>
            <a:r>
              <a:t>GH4133 高温合金</a:t>
            </a:r>
            <a:br/>
            <a:r>
              <a:t>低周疲劳试样数据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143000"/>
            <a:ext cx="2834640" cy="914400"/>
          </a:xfrm>
          <a:prstGeom prst="roundRect">
            <a:avLst/>
          </a:prstGeom>
          <a:solidFill>
            <a:srgbClr val="EBFAF8"/>
          </a:solidFill>
          <a:ln w="15240">
            <a:solidFill>
              <a:srgbClr val="25A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92B49"/>
                </a:solidFill>
                <a:latin typeface="Microsoft YaHei"/>
              </a:defRPr>
            </a:pPr>
            <a:r>
              <a:t>全尺寸高压涡轮盘</a:t>
            </a:r>
            <a:br/>
            <a:r>
              <a:t>疲劳试验观测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1143000"/>
            <a:ext cx="2834640" cy="914400"/>
          </a:xfrm>
          <a:prstGeom prst="roundRect">
            <a:avLst/>
          </a:prstGeom>
          <a:solidFill>
            <a:srgbClr val="EDF8EF"/>
          </a:solidFill>
          <a:ln w="15240">
            <a:solidFill>
              <a:srgbClr val="50A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92B49"/>
                </a:solidFill>
                <a:latin typeface="Microsoft YaHei"/>
              </a:defRPr>
            </a:pPr>
            <a:r>
              <a:t>模型预测区间</a:t>
            </a:r>
            <a:br/>
            <a:r>
              <a:t>与实验结果比较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03320" y="1600200"/>
            <a:ext cx="868680" cy="0"/>
          </a:xfrm>
          <a:prstGeom prst="line">
            <a:avLst/>
          </a:prstGeom>
          <a:ln w="2540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543800" y="1600200"/>
            <a:ext cx="868680" cy="0"/>
          </a:xfrm>
          <a:prstGeom prst="line">
            <a:avLst/>
          </a:prstGeom>
          <a:ln w="25400">
            <a:solidFill>
              <a:srgbClr val="66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4400" y="2880360"/>
            <a:ext cx="3246120" cy="411480"/>
          </a:xfrm>
          <a:prstGeom prst="roundRect">
            <a:avLst/>
          </a:prstGeom>
          <a:solidFill>
            <a:srgbClr val="192B49"/>
          </a:solidFill>
          <a:ln w="15240">
            <a:solidFill>
              <a:srgbClr val="19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验证层级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880360"/>
            <a:ext cx="3246120" cy="411480"/>
          </a:xfrm>
          <a:prstGeom prst="roundRect">
            <a:avLst/>
          </a:prstGeom>
          <a:solidFill>
            <a:srgbClr val="192B49"/>
          </a:solidFill>
          <a:ln w="15240">
            <a:solidFill>
              <a:srgbClr val="19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作用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2880360"/>
            <a:ext cx="3246120" cy="411480"/>
          </a:xfrm>
          <a:prstGeom prst="roundRect">
            <a:avLst/>
          </a:prstGeom>
          <a:solidFill>
            <a:srgbClr val="192B49"/>
          </a:solidFill>
          <a:ln w="15240">
            <a:solidFill>
              <a:srgbClr val="19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看什么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337560"/>
            <a:ext cx="324612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E2328"/>
                </a:solidFill>
                <a:latin typeface="Microsoft YaHei"/>
              </a:defRPr>
            </a:pPr>
            <a:r>
              <a:t>材料试样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3337560"/>
            <a:ext cx="324612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E2328"/>
                </a:solidFill>
                <a:latin typeface="Microsoft YaHei"/>
              </a:defRPr>
            </a:pPr>
            <a:r>
              <a:t>校准疲劳参数与散布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0" y="3337560"/>
            <a:ext cx="324612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E2328"/>
                </a:solidFill>
                <a:latin typeface="Microsoft YaHei"/>
              </a:defRPr>
            </a:pPr>
            <a:r>
              <a:t>预测区间是否覆盖样本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867911"/>
            <a:ext cx="324612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E2328"/>
                </a:solidFill>
                <a:latin typeface="Microsoft YaHei"/>
              </a:defRPr>
            </a:pPr>
            <a:r>
              <a:t>全尺寸盘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3867911"/>
            <a:ext cx="324612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E2328"/>
                </a:solidFill>
                <a:latin typeface="Microsoft YaHei"/>
              </a:defRPr>
            </a:pPr>
            <a:r>
              <a:t>检验结构级寿命预测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0" y="3867911"/>
            <a:ext cx="324612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E2328"/>
                </a:solidFill>
                <a:latin typeface="Microsoft YaHei"/>
              </a:defRPr>
            </a:pPr>
            <a:r>
              <a:t>工程部件寿命是否被合理包络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398264"/>
            <a:ext cx="324612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E2328"/>
                </a:solidFill>
                <a:latin typeface="Microsoft YaHei"/>
              </a:defRPr>
            </a:pPr>
            <a:r>
              <a:t>对比分析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4398264"/>
            <a:ext cx="324612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E2328"/>
                </a:solidFill>
                <a:latin typeface="Microsoft YaHei"/>
              </a:defRPr>
            </a:pPr>
            <a:r>
              <a:t>评估框架准确性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60" y="4398264"/>
            <a:ext cx="324612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E2328"/>
                </a:solidFill>
                <a:latin typeface="Microsoft YaHei"/>
              </a:defRPr>
            </a:pPr>
            <a:r>
              <a:t>是否优于单点确定性寿命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33272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700" b="1">
                <a:solidFill>
                  <a:srgbClr val="192B49"/>
                </a:solidFill>
                <a:latin typeface="Microsoft YaHei"/>
              </a:defRPr>
            </a:pPr>
            <a:r>
              <a:t>论文结论之一：预测区间与 GH4133 合金及全尺寸盘试验结果吻合较好，说明该框架具有结构完整性评估价值。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196A0"/>
                </a:solidFill>
                <a:latin typeface="Microsoft Ya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E9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808C"/>
                </a:solidFill>
                <a:latin typeface="Microsoft YaHei"/>
              </a:defRPr>
            </a:pPr>
            <a:r>
              <a:t>论文讲解 | Reliability Engineering &amp; System Safety, 2016, 146: 1-12 | DOI: 10.1016/j.ress.2015.10.002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92B49"/>
                </a:solidFill>
                <a:latin typeface="Microsoft YaHei"/>
              </a:defRPr>
            </a:pPr>
            <a:r>
              <a:t>12  主要发现与论文贡献</a:t>
            </a:r>
          </a:p>
          <a:p>
            <a:pPr>
              <a:defRPr sz="1200">
                <a:solidFill>
                  <a:srgbClr val="667080"/>
                </a:solidFill>
                <a:latin typeface="Microsoft YaHei"/>
              </a:defRPr>
            </a:pPr>
            <a:r>
              <a:t>从方法、验证和决策三方面理解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097280"/>
            <a:ext cx="566928" cy="566928"/>
          </a:xfrm>
          <a:prstGeom prst="ellipse">
            <a:avLst/>
          </a:prstGeom>
          <a:solidFill>
            <a:srgbClr val="2977C5"/>
          </a:solidFill>
          <a:ln w="16510">
            <a:solidFill>
              <a:srgbClr val="297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00200" y="1051560"/>
            <a:ext cx="9646920" cy="713232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92B49"/>
                </a:solidFill>
                <a:latin typeface="Microsoft YaHei"/>
              </a:defRPr>
            </a:pPr>
            <a:r>
              <a:t>方法贡献：建立概率 PoF 寿命预测框架，能一致地传播多源不确定性。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148839"/>
            <a:ext cx="566928" cy="566928"/>
          </a:xfrm>
          <a:prstGeom prst="ellipse">
            <a:avLst/>
          </a:prstGeom>
          <a:solidFill>
            <a:srgbClr val="25A4A5"/>
          </a:solidFill>
          <a:ln w="16510">
            <a:solidFill>
              <a:srgbClr val="25A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0200" y="2103120"/>
            <a:ext cx="9646920" cy="713232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92B49"/>
                </a:solidFill>
                <a:latin typeface="Microsoft YaHei"/>
              </a:defRPr>
            </a:pPr>
            <a:r>
              <a:t>UQ 贡献：将固有随机性、统计不确定性与模型误差纳入寿命预测。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200400"/>
            <a:ext cx="566928" cy="566928"/>
          </a:xfrm>
          <a:prstGeom prst="ellipse">
            <a:avLst/>
          </a:prstGeom>
          <a:solidFill>
            <a:srgbClr val="50AA5F"/>
          </a:solidFill>
          <a:ln w="16510">
            <a:solidFill>
              <a:srgbClr val="50A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00200" y="3154680"/>
            <a:ext cx="9646920" cy="713232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92B49"/>
                </a:solidFill>
                <a:latin typeface="Microsoft YaHei"/>
              </a:defRPr>
            </a:pPr>
            <a:r>
              <a:t>验证贡献：用 GH4133 合金和全尺寸高压涡轮盘试验验证预测精度。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251959"/>
            <a:ext cx="566928" cy="566928"/>
          </a:xfrm>
          <a:prstGeom prst="ellipse">
            <a:avLst/>
          </a:prstGeom>
          <a:solidFill>
            <a:srgbClr val="EE9041"/>
          </a:solidFill>
          <a:ln w="16510">
            <a:solidFill>
              <a:srgbClr val="EE9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00200" y="4206240"/>
            <a:ext cx="9646920" cy="713232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92B49"/>
                </a:solidFill>
                <a:latin typeface="Microsoft YaHei"/>
              </a:defRPr>
            </a:pPr>
            <a:r>
              <a:t>决策贡献：识别主导不确定性，为后续试验、设计裕度和寿命定限服务。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623560"/>
            <a:ext cx="1042416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192B49"/>
                </a:solidFill>
                <a:latin typeface="Microsoft YaHei"/>
              </a:defRPr>
            </a:pPr>
            <a:r>
              <a:t>最重要的价值：让疲劳寿命预测从“经验安全系数”走向“可解释、可量化、可更新”的可靠性设计。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196A0"/>
                </a:solidFill>
                <a:latin typeface="Microsoft YaHe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7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808C"/>
                </a:solidFill>
                <a:latin typeface="Microsoft YaHei"/>
              </a:defRPr>
            </a:pPr>
            <a:r>
              <a:t>论文讲解 | Reliability Engineering &amp; System Safety, 2016, 146: 1-12 | DOI: 10.1016/j.ress.2015.10.002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92B49"/>
                </a:solidFill>
                <a:latin typeface="Microsoft YaHei"/>
              </a:defRPr>
            </a:pPr>
            <a:r>
              <a:t>13  对机械可靠性设计的启示</a:t>
            </a:r>
          </a:p>
          <a:p>
            <a:pPr>
              <a:defRPr sz="1200">
                <a:solidFill>
                  <a:srgbClr val="667080"/>
                </a:solidFill>
                <a:latin typeface="Microsoft YaHei"/>
              </a:defRPr>
            </a:pPr>
            <a:r>
              <a:t>这篇论文可迁移到很多机械关键件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325880"/>
            <a:ext cx="2423160" cy="914400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297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977C5"/>
                </a:solidFill>
                <a:latin typeface="Microsoft YaHei"/>
              </a:defRPr>
            </a:pPr>
            <a:r>
              <a:t>航空发动机盘/叶片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1325880"/>
            <a:ext cx="2423160" cy="914400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25A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5A4A5"/>
                </a:solidFill>
                <a:latin typeface="Microsoft YaHei"/>
              </a:defRPr>
            </a:pPr>
            <a:r>
              <a:t>齿轮/轴承疲劳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325880"/>
            <a:ext cx="2423160" cy="914400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7C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7C5CB4"/>
                </a:solidFill>
                <a:latin typeface="Microsoft YaHei"/>
              </a:defRPr>
            </a:pPr>
            <a:r>
              <a:t>高速列车转向架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246120"/>
            <a:ext cx="2423160" cy="914400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EE9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E9041"/>
                </a:solidFill>
                <a:latin typeface="Microsoft YaHei"/>
              </a:defRPr>
            </a:pPr>
            <a:r>
              <a:t>压力容器/焊接结构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3246120"/>
            <a:ext cx="2423160" cy="914400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50A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50AA5F"/>
                </a:solidFill>
                <a:latin typeface="Microsoft YaHei"/>
              </a:defRPr>
            </a:pPr>
            <a:r>
              <a:t>风电传动链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3246120"/>
            <a:ext cx="2423160" cy="914400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D24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D24941"/>
                </a:solidFill>
                <a:latin typeface="Microsoft YaHei"/>
              </a:defRPr>
            </a:pPr>
            <a:r>
              <a:t>机械系统寿命定限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800600"/>
            <a:ext cx="10058400" cy="960120"/>
          </a:xfrm>
          <a:prstGeom prst="roundRect">
            <a:avLst/>
          </a:prstGeom>
          <a:solidFill>
            <a:srgbClr val="E6F1FF"/>
          </a:solidFill>
          <a:ln w="12700">
            <a:solidFill>
              <a:srgbClr val="BF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 bIns="73152"/>
          <a:lstStyle/>
          <a:p>
            <a:pPr algn="ctr">
              <a:defRPr sz="1500" b="1">
                <a:solidFill>
                  <a:srgbClr val="2977C5"/>
                </a:solidFill>
                <a:latin typeface="Microsoft YaHei"/>
              </a:defRPr>
            </a:pPr>
            <a:r>
              <a:t>可迁移的方法论</a:t>
            </a:r>
          </a:p>
          <a:p>
            <a:pPr>
              <a:spcAft>
                <a:spcPts val="300"/>
              </a:spcAft>
              <a:defRPr sz="1320">
                <a:solidFill>
                  <a:srgbClr val="1E2328"/>
                </a:solidFill>
                <a:latin typeface="Microsoft YaHei"/>
              </a:defRPr>
            </a:pPr>
            <a:r>
              <a:t>• 先建立可解释的失效物理模型，再引入概率与不确定性，而不是只做黑箱拟合。</a:t>
            </a:r>
          </a:p>
          <a:p>
            <a:pPr>
              <a:spcAft>
                <a:spcPts val="300"/>
              </a:spcAft>
              <a:defRPr sz="1320">
                <a:solidFill>
                  <a:srgbClr val="1E2328"/>
                </a:solidFill>
                <a:latin typeface="Microsoft YaHei"/>
              </a:defRPr>
            </a:pPr>
            <a:r>
              <a:t>• 可靠性设计要输出失效概率、可靠度和寿命分位数，便于和安全目标连接。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196A0"/>
                </a:solidFill>
                <a:latin typeface="Microsoft YaHe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9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808C"/>
                </a:solidFill>
                <a:latin typeface="Microsoft YaHei"/>
              </a:defRPr>
            </a:pPr>
            <a:r>
              <a:t>论文讲解 | Reliability Engineering &amp; System Safety, 2016, 146: 1-12 | DOI: 10.1016/j.ress.2015.10.002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92B49"/>
                </a:solidFill>
                <a:latin typeface="Microsoft YaHei"/>
              </a:defRPr>
            </a:pPr>
            <a:r>
              <a:t>14  总结：如何评价这篇论文</a:t>
            </a:r>
          </a:p>
          <a:p>
            <a:pPr>
              <a:defRPr sz="1200">
                <a:solidFill>
                  <a:srgbClr val="667080"/>
                </a:solidFill>
                <a:latin typeface="Microsoft YaHei"/>
              </a:defRPr>
            </a:pPr>
            <a:r>
              <a:t>适合作为机械可靠性设计课程中的概率疲劳寿命案例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188720"/>
            <a:ext cx="3246120" cy="1920240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297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92B49"/>
                </a:solidFill>
                <a:latin typeface="Microsoft YaHei"/>
              </a:defRPr>
            </a:pPr>
            <a:r>
              <a:t>我学到的 1</a:t>
            </a:r>
            <a:br/>
            <a:r>
              <a:t>机械寿命预测不能只给均值；安全关键件必须关注寿命分布的低尾部。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188720"/>
            <a:ext cx="3246120" cy="1920240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25A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92B49"/>
                </a:solidFill>
                <a:latin typeface="Microsoft YaHei"/>
              </a:defRPr>
            </a:pPr>
            <a:r>
              <a:t>我学到的 2</a:t>
            </a:r>
            <a:br/>
            <a:r>
              <a:t>失效物理模型负责解释机理，概率模型负责表达不确定性和置信度。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188720"/>
            <a:ext cx="3246120" cy="1920240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EE9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92B49"/>
                </a:solidFill>
                <a:latin typeface="Microsoft YaHei"/>
              </a:defRPr>
            </a:pPr>
            <a:r>
              <a:t>我学到的 3</a:t>
            </a:r>
            <a:br/>
            <a:r>
              <a:t>敏感性分析能指导下一轮试验和质量控制，把资源投入主导不确定性。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886200"/>
            <a:ext cx="5486400" cy="150876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 bIns="73152"/>
          <a:lstStyle/>
          <a:p>
            <a:pPr algn="ctr">
              <a:defRPr sz="1500" b="1">
                <a:solidFill>
                  <a:srgbClr val="192B49"/>
                </a:solidFill>
                <a:latin typeface="Microsoft YaHei"/>
              </a:defRPr>
            </a:pPr>
            <a:r>
              <a:t>课堂讨论问题</a:t>
            </a:r>
          </a:p>
          <a:p>
            <a:pPr>
              <a:spcAft>
                <a:spcPts val="300"/>
              </a:spcAft>
              <a:defRPr sz="1320">
                <a:solidFill>
                  <a:srgbClr val="1E2328"/>
                </a:solidFill>
                <a:latin typeface="Microsoft YaHei"/>
              </a:defRPr>
            </a:pPr>
            <a:r>
              <a:t>• 如果目标可靠度为 99.9%，应如何选取寿命分位数？</a:t>
            </a:r>
          </a:p>
          <a:p>
            <a:pPr>
              <a:spcAft>
                <a:spcPts val="300"/>
              </a:spcAft>
              <a:defRPr sz="1320">
                <a:solidFill>
                  <a:srgbClr val="1E2328"/>
                </a:solidFill>
                <a:latin typeface="Microsoft YaHei"/>
              </a:defRPr>
            </a:pPr>
            <a:r>
              <a:t>• 对某一机械部件，哪些变量应作为随机变量？</a:t>
            </a:r>
          </a:p>
          <a:p>
            <a:pPr>
              <a:spcAft>
                <a:spcPts val="300"/>
              </a:spcAft>
              <a:defRPr sz="1320">
                <a:solidFill>
                  <a:srgbClr val="1E2328"/>
                </a:solidFill>
                <a:latin typeface="Microsoft YaHei"/>
              </a:defRPr>
            </a:pPr>
            <a:r>
              <a:t>• 试验样本少时，贝叶斯更新能解决什么问题？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3886200"/>
            <a:ext cx="4343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92B49"/>
                </a:solidFill>
                <a:latin typeface="Microsoft YaHei"/>
              </a:defRPr>
            </a:pPr>
            <a:r>
              <a:t>论文链接</a:t>
            </a:r>
          </a:p>
          <a:p>
            <a:r>
              <a:rPr sz="1200" u="sng">
                <a:solidFill>
                  <a:srgbClr val="2977C5"/>
                </a:solidFill>
                <a:latin typeface="Microsoft YaHei"/>
                <a:hlinkClick r:id="rId2"/>
              </a:rPr>
              <a:t>https://doi.org/10.1016/j.ress.2015.10.002</a:t>
            </a:r>
          </a:p>
          <a:p>
            <a:pPr>
              <a:defRPr sz="1050">
                <a:solidFill>
                  <a:srgbClr val="667080"/>
                </a:solidFill>
                <a:latin typeface="Microsoft YaHei"/>
              </a:defRPr>
            </a:pPr>
            <a:r>
              <a:t>题名：Probabilistic Physics of Failure-based framework for fatigue life prediction of aircraft gas turbine discs under uncertainty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897880"/>
            <a:ext cx="1042416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600" b="1">
                <a:solidFill>
                  <a:srgbClr val="192B49"/>
                </a:solidFill>
                <a:latin typeface="Microsoft YaHei"/>
              </a:defRPr>
            </a:pPr>
            <a:r>
              <a:t>结束：这篇论文的核心不是“算一个寿命”，而是“给出带可信度的寿命与风险”。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196A0"/>
                </a:solidFill>
                <a:latin typeface="Microsoft YaHe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